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320" r:id="rId2"/>
    <p:sldId id="321" r:id="rId3"/>
    <p:sldId id="322" r:id="rId4"/>
    <p:sldId id="323" r:id="rId5"/>
    <p:sldId id="260" r:id="rId6"/>
    <p:sldId id="324" r:id="rId7"/>
    <p:sldId id="325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  <p:sldId id="334" r:id="rId17"/>
    <p:sldId id="335" r:id="rId18"/>
    <p:sldId id="336" r:id="rId19"/>
    <p:sldId id="337" r:id="rId20"/>
    <p:sldId id="338" r:id="rId21"/>
    <p:sldId id="339" r:id="rId22"/>
    <p:sldId id="340" r:id="rId23"/>
    <p:sldId id="341" r:id="rId24"/>
    <p:sldId id="342" r:id="rId25"/>
    <p:sldId id="343" r:id="rId26"/>
    <p:sldId id="344" r:id="rId27"/>
    <p:sldId id="345" r:id="rId28"/>
    <p:sldId id="346" r:id="rId29"/>
    <p:sldId id="347" r:id="rId30"/>
    <p:sldId id="348" r:id="rId31"/>
    <p:sldId id="349" r:id="rId32"/>
    <p:sldId id="350" r:id="rId33"/>
    <p:sldId id="351" r:id="rId34"/>
    <p:sldId id="352" r:id="rId35"/>
    <p:sldId id="31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1D30F7-432E-4E4A-9405-71FD8AB293E3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7D08D2-24C7-B84C-A002-F5DC7BC34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85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.</a:t>
            </a:r>
          </a:p>
          <a:p>
            <a:r>
              <a:rPr dirty="0"/>
              <a:t>Xenophanes was a pre-Socratic philosopher</a:t>
            </a:r>
            <a:r>
              <a:rPr lang="en-US" dirty="0"/>
              <a:t>—</a:t>
            </a:r>
            <a:r>
              <a:rPr dirty="0"/>
              <a:t>one of the earliest thinkers to articulate epistemic humility. The quote predates modern science by two millennia. The problem of knowledge is not a new problem.</a:t>
            </a:r>
          </a:p>
          <a:p>
            <a:endParaRPr dirty="0"/>
          </a:p>
          <a:p>
            <a:r>
              <a:rPr dirty="0"/>
              <a:t>'And yet</a:t>
            </a:r>
            <a:r>
              <a:rPr lang="en-US" dirty="0"/>
              <a:t>—</a:t>
            </a:r>
            <a:r>
              <a:rPr dirty="0"/>
              <a:t>we keep asking.' That's what makes it research rather than resignation.</a:t>
            </a:r>
          </a:p>
          <a:p>
            <a:endParaRPr dirty="0"/>
          </a:p>
          <a:p>
            <a:r>
              <a:rPr dirty="0"/>
              <a:t>If the room is right for it: sit with a moment of silence before dismissing the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15A58-C759-D0DA-7CFC-CA9534B7BE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E255C7-E609-A40F-2CE3-7E25276813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E31AC-4B5D-A925-3188-6135E1956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0CC15-26AA-7446-AF0E-19A71C17CA28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AB247-4A7F-5A22-9FDB-C4BE6451E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BF2DB-3859-E666-7A79-828AF355D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069-7A9F-9741-BA6C-7DB0FB379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395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FC46C-1916-D35C-BD80-F94E06AB2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AED86-2664-5823-FEAF-2CEF71A15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394BC-19D7-3841-92F3-433EC06FB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0CC15-26AA-7446-AF0E-19A71C17CA28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A9505-FE20-F446-F12F-09B925462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037B-0199-1532-A273-1E26499AA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069-7A9F-9741-BA6C-7DB0FB379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01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8C4F6-FE2F-74ED-4196-22CB97AB6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39C6E-E6DE-FFA0-DC0B-849132AD6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9F80B-6863-70EC-45CC-1F2F5CE6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0CC15-26AA-7446-AF0E-19A71C17CA28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E8BDA-A2C9-06B0-4A64-B1D8E0F9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A1B83-C4C0-6AAF-B8A3-45EBB2E19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069-7A9F-9741-BA6C-7DB0FB379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16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9C100-6972-5E0F-8F8F-07400EE3B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C1978-7989-8813-5C21-4A0309454B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99728-1B8E-DC3D-D52A-76FF75554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8D637-FEFC-BCD5-C7C7-7D904FA6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0CC15-26AA-7446-AF0E-19A71C17CA28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CE097-1543-6E38-177D-1A9E40C2F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44956-2484-3DFD-7E10-181E577F3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069-7A9F-9741-BA6C-7DB0FB379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969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11F21-C129-6F69-D851-016BFA4C1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F916F-4DCE-4234-1965-7077B027F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98ADF3-D2AB-DCD0-2FB9-D9F6E15DF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35C1A0-1089-6EC0-493F-9B1D5C720E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743038-7670-A1EA-3B9A-01B5E2CAB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99B8D6-0754-3B07-E86B-3ED8C8DCC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0CC15-26AA-7446-AF0E-19A71C17CA28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5D0CE7-25A2-8839-7C48-55DC282BF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9E6B8F-470E-A321-B91F-848FA0D27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069-7A9F-9741-BA6C-7DB0FB379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90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F3D63-16FC-1301-4C3E-C87FE1E96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F79571-6054-7C45-6C12-9E9B79CC3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0CC15-26AA-7446-AF0E-19A71C17CA28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5A1D8-D291-0350-3126-0BD855453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FFADB5-AEC6-92B4-681E-1775EFD41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069-7A9F-9741-BA6C-7DB0FB379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99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F207DF-63B8-DA30-F862-E491CF61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0CC15-26AA-7446-AF0E-19A71C17CA28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5E724D-A1C6-9956-086E-1D89704EA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8A7C6-1AC5-7DD2-F013-3FBBDCA97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069-7A9F-9741-BA6C-7DB0FB379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183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0FA09-C895-D9F6-F01C-78BED2E13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CCC9A-ED10-E990-4FCF-F587C809E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A748DD-A0EF-B925-4F9A-3C0231B6F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03577-0A84-5061-88CC-283F53E90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0CC15-26AA-7446-AF0E-19A71C17CA28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E08E8-68F7-FAEF-05B1-D8C14A48E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676F0C-6ED1-00C4-1CEC-AED9511AF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069-7A9F-9741-BA6C-7DB0FB379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41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93B31-DAD3-1461-C9C2-0650161E1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954E81-C0A3-DA62-79C1-2FE02AE6C7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7FB00-0536-5144-A4B6-CF435C7B5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A841E-E33A-A04D-3690-875126769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0CC15-26AA-7446-AF0E-19A71C17CA28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264A0-37D6-247C-AE93-B947CEAED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F0784-46C7-012B-3CDA-CFB13D4C1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069-7A9F-9741-BA6C-7DB0FB379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88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DC5D7-F98F-FED3-4241-0588F5D6D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B0678F-5BB9-4935-F4E1-983EA7C24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A2170-DDBC-7F45-7973-E3608BC4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0CC15-26AA-7446-AF0E-19A71C17CA28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8B690-0A33-2FB6-CD96-EE885A8E5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F88CF-9112-90CF-5DFD-48ACA1F86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069-7A9F-9741-BA6C-7DB0FB379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79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FD9F21-B230-6C06-1640-09E944A34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3DAD85-1956-3E18-F9DC-03E185C84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5C569-2894-B0AA-4AAC-1921E0D74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0CC15-26AA-7446-AF0E-19A71C17CA28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D1D4B-B3ED-B243-D7B2-28C8B142D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72052-8FEC-16C1-4EAC-0262F364E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8069-7A9F-9741-BA6C-7DB0FB379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590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5197FF-125C-9107-872D-5BDD129C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D23B6-721D-7362-34C3-9A083AE28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D8E71-3F0E-14E4-6C61-EB947E17EA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C0CC15-26AA-7446-AF0E-19A71C17CA28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5C222-771A-3650-53AC-D361C475BE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0A3C5-52F8-6C49-96FC-2D2570F91F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A08069-7A9F-9741-BA6C-7DB0FB379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679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37160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6720840"/>
            <a:ext cx="12188952" cy="137160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588" y="3017520"/>
            <a:ext cx="12188952" cy="36576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8788" y="548640"/>
            <a:ext cx="112471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dirty="0">
                <a:solidFill>
                  <a:srgbClr val="FFFFFF"/>
                </a:solidFill>
                <a:latin typeface="Calibri Light"/>
              </a:rPr>
              <a:t>Descriptive vs.
Inferential Statistics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8788" y="3200400"/>
            <a:ext cx="1124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8788" y="4297680"/>
            <a:ext cx="1124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1005840"/>
            <a:ext cx="12188952" cy="54864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Two Kinds of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1188720"/>
            <a:ext cx="1124712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Statistics is broadly divided into two branches.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Descriptive statistics: summarize and describe data you have collected.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Inferential statistics: use your data to draw conclusions about a larger population.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Understanding which kind of statistic to use — and what it can and cannot tell you — is one of the most important skills in empirical research.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3D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64592" cy="6858000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8788" y="36576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C8992A"/>
                </a:solidFill>
                <a:latin typeface="Calibri"/>
              </a:rPr>
              <a:t>Part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1280161"/>
            <a:ext cx="10972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 Light"/>
              </a:rPr>
              <a:t>Descriptive
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3840481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F5F0E8"/>
                </a:solidFill>
                <a:latin typeface="Calibri"/>
              </a:rPr>
              <a:t>Summarizing what you observed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1005840"/>
            <a:ext cx="12188952" cy="54864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Descriptive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1188721"/>
            <a:ext cx="11247120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Descriptive statistics summarize and organize data.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They describe what you observed — no more and no less.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Common descriptive statistics: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Measures of central tendency: mean, median, mode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Measures of variability: range, standard deviation, variance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Distributions: histograms, bar graphs, box plots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Correlations between variables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1005840"/>
            <a:ext cx="12188952" cy="54864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Descriptive Statistics —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1188721"/>
            <a:ext cx="11247120" cy="3036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A researcher collects the tempos of 500 jazz recordings.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Descriptive statistics might reveal: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The average (mean) tempo is 132 bpm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The most common (mode) tempo is 120 bpm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Tempos range from 60 to 240 bpm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The distribution is roughly normal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All of these statements describe the sample — the 500 recordings studied.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They say nothing about jazz recordings in general.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1005840"/>
            <a:ext cx="12188952" cy="54864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What Descriptive Statistics Cannot Tell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1188720"/>
            <a:ext cx="1124712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Descriptive statistics describe the sample, but say nothing about populations.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Is the average tempo of 132 bpm true of jazz recordings in general, or only of this particular sample?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Can we generalize from these 500 recordings to all jazz?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To answer questions like these, we need inferential statistics.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3D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64592" cy="6858000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8788" y="36576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C8992A"/>
                </a:solidFill>
                <a:latin typeface="Calibri"/>
              </a:rPr>
              <a:t>Part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1280161"/>
            <a:ext cx="10972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 Light"/>
              </a:rPr>
              <a:t>Inferential
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3840481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F5F0E8"/>
                </a:solidFill>
                <a:latin typeface="Calibri"/>
              </a:rPr>
              <a:t>Drawing conclusions about populations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1005840"/>
            <a:ext cx="12188952" cy="54864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Inferential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1188720"/>
            <a:ext cx="1124712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Inferential statistics allow us to draw conclusions about a population based on a sample.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They use probability to estimate how likely it is that an observed result reflects a real pattern — rather than chance variation.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Key question: could this result have occurred by accident?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If the answer is probably not, the result is called statistically significant.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1005840"/>
            <a:ext cx="12188952" cy="54864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Sample vs. Population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1188720"/>
            <a:ext cx="11247120" cy="3359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A population is the full set of all cases we are interested in.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A sample is the subset we actually study.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We use the sample to make inferences about the population.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Example: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Population: all jazz recordings ever made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Sample: the 500 recordings we collected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Inference: does the tempo pattern in our sample hold for jazz in general?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The size and representativeness of the sample determine how confident we can be in our inferences.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1005840"/>
            <a:ext cx="12188952" cy="54864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The Key Distinction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1188720"/>
            <a:ext cx="11247120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Descriptive statistics tell us what we observed.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Inferential statistics tell us what we can conclude beyond what we observed.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A descriptive statistic cannot be "statistically significant" — only an inferential result can be.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Always be explicit about which kind of claim you are making.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Confusing the two is a common error in research reports.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37160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6720840"/>
            <a:ext cx="12188952" cy="137160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588" y="3017520"/>
            <a:ext cx="12188952" cy="36576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8788" y="548641"/>
            <a:ext cx="112471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Calibri Light"/>
              </a:rPr>
              <a:t>Types of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8788" y="3200400"/>
            <a:ext cx="1124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8788" y="4297680"/>
            <a:ext cx="1124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1005840"/>
            <a:ext cx="12188952" cy="54864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What is a Variable?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1188720"/>
            <a:ext cx="11247120" cy="3411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A variable is any characteristic or quantity that can take on different values.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In empirical research, variables are the things we measure, manipulate, or control.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Examples in music research: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Tempo (beats per minute)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Mode: major or minor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Listener preference rating (1–7 scale)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Number of errors in a performance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Presence or absence of lyrics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Understanding the roles variables play is essential before choosing any statistical method.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3D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64592" cy="6858000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8788" y="36576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C8992A"/>
                </a:solidFill>
                <a:latin typeface="Calibri"/>
              </a:rPr>
              <a:t>Part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1280161"/>
            <a:ext cx="10972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 Light"/>
              </a:rPr>
              <a:t>Independent
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3840481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F5F0E8"/>
                </a:solidFill>
                <a:latin typeface="Calibri"/>
              </a:rPr>
              <a:t>The variable the researcher manipulates or groups by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1005840"/>
            <a:ext cx="12188952" cy="54864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Independent Variable (IV)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1188720"/>
            <a:ext cx="11247120" cy="3411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The independent variable is what the researcher manipulates or uses to define groups.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It is the presumed cause — the thing we think might explain something else.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In an experiment, the researcher assigns participants to different levels of the IV.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In observational research, the IV is a naturally occurring grouping variable.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Musical examples of IVs: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Mode: major vs. minor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Tempo: fast vs. slow vs. moderate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Performer expertise: professional vs. amateur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Presence or absence of lyrics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1005840"/>
            <a:ext cx="12188952" cy="54864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Independent Variable (IV)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1188720"/>
            <a:ext cx="11247120" cy="2287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The IV is what we vary in order to see what changes as a result.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A study can have more than one IV.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Example: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H: Listeners prefer music in the major mode over the minor mode.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IV: Mode (major vs. minor)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The researcher presents both conditions and measures listener response.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3D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64592" cy="6858000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8788" y="36576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C8992A"/>
                </a:solidFill>
                <a:latin typeface="Calibri"/>
              </a:rPr>
              <a:t>Part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1280161"/>
            <a:ext cx="10972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 Light"/>
              </a:rPr>
              <a:t>Dependent
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3840481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F5F0E8"/>
                </a:solidFill>
                <a:latin typeface="Calibri"/>
              </a:rPr>
              <a:t>The variable the researcher measures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1005840"/>
            <a:ext cx="12188952" cy="54864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Dependent Variable (DV)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1188720"/>
            <a:ext cx="11247120" cy="3411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The dependent variable is what the researcher measures.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It is the presumed effect — the thing we expect to change depending on the IV.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The DV 'depends' on the IV.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Musical examples of DVs: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Listener preference rating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Heart rate or skin conductance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Number of correctly identified pitches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Response time on a recognition task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Percentage of beats tapped in synchrony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1005840"/>
            <a:ext cx="12188952" cy="54864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IV and DV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1188721"/>
            <a:ext cx="11247120" cy="3036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Every well-formed empirical hypothesis links an IV to a DV.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Example hypotheses: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IV: Mode (major/minor)  →  DV: Valence rating (happy/sad)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IV: Tempo (fast/slow)   →  DV: Arousal rating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IV: Performer expertise →  DV: Number of timing errors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IV: Presence of lyrics  →  DV: Text comprehension score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The DV is always something we can observe and measure.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If we can't measure it, we can't test the hypothesis.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3D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64592" cy="6858000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8788" y="36576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C8992A"/>
                </a:solidFill>
                <a:latin typeface="Calibri"/>
              </a:rPr>
              <a:t>Part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1280161"/>
            <a:ext cx="10972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 Light"/>
              </a:rPr>
              <a:t>Confounding
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3840481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F5F0E8"/>
                </a:solidFill>
                <a:latin typeface="Calibri"/>
              </a:rPr>
              <a:t>Third variables that muddy the picture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1005840"/>
            <a:ext cx="12188952" cy="54864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Confounding 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1188721"/>
            <a:ext cx="11247120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A confounding variable is a third variable that affects the DV and is correlated with the IV.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Confounds create a spurious appearance of a relationship between IV and DV.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Classic example: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Ice cream sales and drowning deaths both rise in summer.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IV (apparent): ice cream sales  →  DV: drowning deaths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Confound: temperature — it causes both.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The correlation is real, but the causal story is wrong.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1005840"/>
            <a:ext cx="12188952" cy="54864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Confounds in Music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1188720"/>
            <a:ext cx="11247120" cy="3359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Fast-tempo music tends to be louder than slow-tempo music.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If a study finds that fast music raises arousal, is it the tempo or the loudness?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IV: Tempo  →  DV: Arousal  — but loudness is a confound.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Another example: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Major-key music is often performed at faster tempos.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If major music sounds happier, is it the mode or the tempo?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We need to control for tempo to isolate the effect of mode.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Identifying potential confounds before data collection is one of the most important steps in research design.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1005840"/>
            <a:ext cx="12188952" cy="54864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Controlling for Confounds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1188720"/>
            <a:ext cx="11247120" cy="3257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Several strategies can reduce or eliminate confounding: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Randomization — randomly assign participants to conditions; confounds distribute evenly across groups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Matching — ensure groups are equal on known confounds before the study begins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Holding constant — fix the confounding variable across all conditions (e.g., keep loudness equal across tempos)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Statistical control — measure the confound and account for it in the analysis (e.g., regression, ANCOVA)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The goal: isolate the effect of the IV on the DV.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3D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64592" cy="6858000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8788" y="36576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C8992A"/>
                </a:solidFill>
                <a:latin typeface="Calibri"/>
              </a:rPr>
              <a:t>Part 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1280161"/>
            <a:ext cx="10972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 Light"/>
              </a:rPr>
              <a:t>Other Types
of 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3840481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F5F0E8"/>
                </a:solidFill>
                <a:latin typeface="Calibri"/>
              </a:rPr>
              <a:t>Extraneous variables, moderators, and mediators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1005840"/>
            <a:ext cx="12188952" cy="54864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Extraneous 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1188721"/>
            <a:ext cx="11247120" cy="3036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Extraneous variables are any variables other than the IV that could affect the DV.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A confound is a specific kind of extraneous variable — one correlated with the IV.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Examples of extraneous variables in music listening studies: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Participants vary in musical training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Room acoustics differ across testing sites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Time of day affects alertness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Familiarity with the stimulus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Good experimental design minimizes the influence of extraneous variables.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1005840"/>
            <a:ext cx="12188952" cy="54864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Moderating 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1188721"/>
            <a:ext cx="11247120" cy="3036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A moderating variable changes the strength or direction of the IV–DV relationship.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It answers: 'For whom, or under what conditions, does the effect hold?'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Example: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IV: Tempo  →  DV: Preference rating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Moderator: Musical training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Trained musicians may prefer slower, more nuanced tempos.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Non-musicians may prefer faster, higher-energy tempos.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The effect of tempo on preference differs depending on the moderator.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1005840"/>
            <a:ext cx="12188952" cy="54864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1188721"/>
            <a:ext cx="11247120" cy="2610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Independent Variable (IV): what the researcher manipulates or groups by.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Dependent Variable (DV): what the researcher measures.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Confounding Variable: a third variable correlated with the IV that also affects the DV.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Extraneous Variable: any variable beyond the IV that could affect the DV.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Moderating Variable: changes the strength or direction of the IV–DV relationship.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Every hypothesis links an IV to a DV. Identifying and controlling confounds is essential for valid conclusions.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3D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64592" cy="6858000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8788" y="36576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C8992A"/>
                </a:solidFill>
                <a:latin typeface="Calibri"/>
              </a:rPr>
              <a:t>Part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8788" y="1280160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 Light"/>
              </a:rPr>
              <a:t>Types of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3840481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F5F0E8"/>
                </a:solidFill>
                <a:latin typeface="Calibri"/>
              </a:rPr>
              <a:t>The scale of measurement determines which statistics apply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1005840"/>
            <a:ext cx="12188952" cy="54864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Measurement Scales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1188721"/>
            <a:ext cx="11247120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Not all data are the same kind.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The type of data you collect determines which statistics are appropriate.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There are four types of measurement scale: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Nominal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Ordinal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Interval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Ratio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1005840"/>
            <a:ext cx="12188952" cy="54864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Nominal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1188721"/>
            <a:ext cx="11247120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Nominal data consist of names or categories — no meaningful ordering.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Examples: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Instrument families: strings, winds, brass, percussion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Musical genres: jazz, classical, folk, pop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Key: C major, G major, D minor …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Mode: major or minor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Appropriate statistics: mode, frequency counts, chi-square test.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1005840"/>
            <a:ext cx="12188952" cy="54864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Ordinal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1188721"/>
            <a:ext cx="11247120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Ordinal data have a meaningful rank order — but unequal gaps between ranks.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We know rank 1 beat rank 2, but not by how much.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Examples: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Competition rankings: 1st, 2nd, 3rd place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Likert-scale ratings: strongly agree → strongly disagree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Preference rankings among several pieces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Appropriate statistics: median, mode, Spearman's rho.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1005840"/>
            <a:ext cx="12188952" cy="54864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Interval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1188721"/>
            <a:ext cx="11247120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Interval data have equal gaps between values — but no true zero.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A score of 0 does not mean "none" of the property.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Examples: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Temperature in Celsius or Fahrenheit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Years on the calendar (year 0 does not mean "no time")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Psychological test scores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Appropriate statistics: mean, standard deviation, Pearson's r, t-test.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1005840"/>
            <a:ext cx="12188952" cy="54864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Ratio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1188721"/>
            <a:ext cx="11247120" cy="3036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Ratio data have equal gaps and a true zero point.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A score of 0 means "none" of the property.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Examples: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Tempo in beats per minute (0 bpm = silence)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Frequency in Hz (0 Hz = no vibration)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Duration in seconds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Number of errors made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Appropriate statistics: all of the above, plus geometric mean, coefficient of variation.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1005840"/>
            <a:ext cx="12188952" cy="54864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Choosing the Right Statistic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1188721"/>
            <a:ext cx="11247120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The choice of statistical test depends on: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The measurement scale of your data (nominal, ordinal, interval, ratio)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Whether your data are normally distributed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The design of your study (within-subjects vs. between-subjects)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The number of groups or variables you are comparing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Using the wrong statistic for your data type is a common error.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Always identify your measurement scale before planning the analysis.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1005840"/>
            <a:ext cx="12188952" cy="54864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10972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8" y="1188721"/>
            <a:ext cx="11247120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Descriptive statistics describe the sample.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Inferential statistics make claims about the population.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The type of data determines which statistics are appropriate: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Nominal → mode, frequency counts, chi-square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Ordinal → median, rank-order correlations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Interval / Ratio → mean, standard deviation, parametric tests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sz="2100" dirty="0">
                <a:solidFill>
                  <a:srgbClr val="1A1A2E"/>
                </a:solidFill>
                <a:latin typeface="Calibri"/>
              </a:rPr>
              <a:t>Always match your statistical method to your data type and research question.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137160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8" y="6720840"/>
            <a:ext cx="12188952" cy="137160"/>
          </a:xfrm>
          <a:prstGeom prst="rect">
            <a:avLst/>
          </a:prstGeom>
          <a:solidFill>
            <a:srgbClr val="C8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5988" y="822960"/>
            <a:ext cx="1033272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i="1">
                <a:solidFill>
                  <a:srgbClr val="F5F0E8"/>
                </a:solidFill>
                <a:latin typeface="Georgia"/>
              </a:rPr>
              <a:t>“But as for certain truth, no man has known it
Nor will he know it; neither of the gods,
Nor yet of all the things of which I speak.
And even if by chance he were to utter the final truth,
he would himself not know it:
For all is but a woven web of conjectures.”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5988" y="4297680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i="1">
                <a:solidFill>
                  <a:srgbClr val="C8992A"/>
                </a:solidFill>
                <a:latin typeface="Calibri"/>
              </a:rPr>
              <a:t>— Xenophanes (c. 570–478 BCE)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5988" y="5120640"/>
            <a:ext cx="10332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Calibri Light"/>
              </a:rPr>
              <a:t>And yet</a:t>
            </a:r>
            <a:r>
              <a:rPr lang="en-US" sz="2800" b="1" dirty="0">
                <a:solidFill>
                  <a:srgbClr val="FFFFFF"/>
                </a:solidFill>
                <a:latin typeface="Calibri Light"/>
              </a:rPr>
              <a:t>—</a:t>
            </a:r>
            <a:r>
              <a:rPr sz="2800" b="1" dirty="0">
                <a:solidFill>
                  <a:srgbClr val="FFFFFF"/>
                </a:solidFill>
                <a:latin typeface="Calibri Light"/>
              </a:rPr>
              <a:t>we keep asking.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2065</Words>
  <Application>Microsoft Macintosh PowerPoint</Application>
  <PresentationFormat>Widescreen</PresentationFormat>
  <Paragraphs>231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Aptos</vt:lpstr>
      <vt:lpstr>Aptos Display</vt:lpstr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T Shanahan</dc:creator>
  <cp:lastModifiedBy>Daniel T Shanahan</cp:lastModifiedBy>
  <cp:revision>1</cp:revision>
  <dcterms:created xsi:type="dcterms:W3CDTF">2026-06-28T23:12:20Z</dcterms:created>
  <dcterms:modified xsi:type="dcterms:W3CDTF">2026-06-28T23:12:37Z</dcterms:modified>
</cp:coreProperties>
</file>