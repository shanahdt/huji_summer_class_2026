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0" r:id="rId9"/>
    <p:sldId id="281" r:id="rId10"/>
    <p:sldId id="261" r:id="rId11"/>
    <p:sldId id="263" r:id="rId12"/>
    <p:sldId id="262" r:id="rId13"/>
    <p:sldId id="264" r:id="rId14"/>
    <p:sldId id="266" r:id="rId15"/>
    <p:sldId id="267" r:id="rId16"/>
    <p:sldId id="268" r:id="rId17"/>
    <p:sldId id="265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4"/>
    <p:restoredTop sz="95688"/>
  </p:normalViewPr>
  <p:slideViewPr>
    <p:cSldViewPr snapToGrid="0">
      <p:cViewPr varScale="1">
        <p:scale>
          <a:sx n="120" d="100"/>
          <a:sy n="12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4T17:09:05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1000 1851 24575,'-8'-93'0,"-1"-1"0,0 1 0,1 0 0,-1-1 0,1 1 0,-1 0 0,0 6 0,0-1 0,1 11 0,1-22 0,-2-12 0,-1-2 0,0 6 0,0 16 0,-1 26 0,-19-19 0,12 34 0,-2 1 0,0 2 0,-3 9 0,-4 8 0,-5 7 0,-3 8 0,-4 4 0,-3 3 0,3 5 0,3 1 0,2 13 0,3 20 0,2 26 0,-3 36 0,16-36 0,2 3 0,-2 7 0,1 2 0,1 1 0,1-1 0,3-4 0,0-3 0,1-6 0,0-2 0,-5 33 0,4-13 0,3-8 0,1-4 0,3-4 0,0 0 0,3-4 0,0-2 0,0 1 0,0-1 0,0 4 0,0 8 0,0 9 0,0 9 0,0 8 0,0 0 0,0-8 0,0-10 0,0-13 0,0-10 0,0-1 0,0 2 0,0 5 0,0 7 0,0 5 0,0 9 0,0 8 0,-4 6 0,-1 0 0,-1-5 0,-3-11 0,0-9 0,-1-1 0,-2 0 0,2 7 0,1 4 0,-1 2 0,2 3 0,-3-4 0,2-6 0,0-5 0,0-4 0,1 3 0,0 3 0,2-1 0,0-3 0,-2-9 0,2-4 0,0-5 0,2-2 0,1-3 0,1-4 0,-3-2 0,2 2 0,0 8 0,1 3 0,2 7 0,0-4 0,0-3 0,0-3 0,0 0 0,0 2 0,0 5 0,0 2 0,0-2 0,0-1 0,0-4 0,0-1 0,0-2 0,0-1 0,0 1 0,0-1 0,0-3 0,0 0 0,0-3 0,0 1 0,0 1 0,0 2 0,0 3 0,0 4 0,0 2 0,0 2 0,0-1 0,0-1 0,0-2 0,0-1 0,0-1 0,0 3 0,0 7 0,0 6 0,0 7 0,0-1 0,0 0 0,0 3 0,0-3 0,0-1 0,0-4 0,0-5 0,0 0 0,0-1 0,0-4 0,1-5 0,1-10 0,4-2 0,1-1 0,2 1 0,2 4 0,2 0 0,2 4 0,1-1 0,1 0 0,2-4 0,3 0 0,3-1 0,6 0 0,1-1 0,2-3 0,-2-2 0,-6-5 0,-3-4 0,-2-4 0,-2-6 0,1-2 0,-1 0 0,0 0 0,0-3 0,-1 0 0,-2-3 0,0-2 0,-1-1 0,1-1 0,0 0 0,2 0 0,2 0 0,-1 0 0,1 0 0,-1 0 0,2 0 0,4 0 0,4 0 0,0 0 0,-3 0 0,-3 0 0,-5 0 0,-3 0 0,-1 0 0,-1 0 0,0 0 0,0-4 0,-1-5 0,2-11 0,4-12 0,6-17 0,6-12 0,4-6 0,-1-2 0,-3 10 0,-4 7 0,-7 9 0,-3 3 0,-4-3 0,-3 1 0,2-3 0,-5 4 0,-1 6 0,-3 10 0,-2 5 0,0 4 0,0 1 0,0-1 0,0-4 0,0-1 0,0-6 0,0-5 0,0 0 0,0-2 0,0 1 0,0-1 0,0-5 0,0-8 0,0-7 0,0-2 0,0 3 0,0 7 0,0 5 0,0 5 0,0 2 0,0 2 0,0 0 0,0 2 0,0 5 0,0-1 0,0-2 0,0-6 0,-2-7 0,-4-2 0,0-3 0,-1 3 0,2 1 0,1 2 0,-1-3 0,-1-6 0,-3-6 0,1-7 0,1-1 0,0 2 0,1 7 0,0 5 0,1 6 0,0 2 0,3 2 0,0 7 0,2 1 0,0 5 0,0 1 0,0-6 0,0-5 0,0-11 0,0-7 0,0 0 0,0 5 0,0 8 0,0 10 0,0 6 0,0 0 0,-2-1 0,-1-6 0,-2-7 0,0-1 0,0 0 0,0 4 0,0 1 0,0-2 0,0-2 0,-3-1 0,2-1 0,0 1 0,1 0 0,2 0 0,-2 3 0,0 1 0,1 3 0,-1 0 0,2-1 0,-2-2 0,1-1 0,1-2 0,1-3 0,1 3 0,-1 2 0,-1 2 0,-2 1 0,1-3 0,-1-5 0,-1-6 0,0-6 0,0-11 0,3-8 0,0-4 0,3-1 0,0 8 0,0 10 0,0 10 0,0 9 0,0 5 0,0 5 0,0 3 0,0 2 0,0 2 0,0-1 0,0 2 0,0 1 0,0-2 0,0 2 0,0-4 0,0 0 0,0 3 0,0 2 0,0 4 0,0 1 0,0-1 0,0-1 0,0 1 0,0 1 0,0-1 0,0 0 0,0-2 0,0 0 0,0 0 0,2-3 0,2 0 0,3-4 0,0 0 0,0 3 0,-2 1 0,-2 2 0,2 1 0,-2 2 0,2 1 0,0 1 0,0-3 0,0-2 0,0-1 0,0 2 0,0 2 0,-3 4 0,2 4 0,-1 1 0,0 5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4T17:10:11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1000 462 24575,'-8'-24'0,"-1"1"0,0 0 0,1 0 0,-1-1 0,1 1 0,-1 0 0,0 1 0,0 0 0,1 3 0,1-6 0,-2-2 0,-1-2 0,0 3 0,0 3 0,-1 7 0,-19-5 0,12 8 0,-2 1 0,0 0 0,-3 3 0,-4 1 0,-5 3 0,-3 1 0,-4 1 0,-3 1 0,3 1 0,3 1 0,2 3 0,3 4 0,2 8 0,-3 8 0,16-9 0,2 1 0,-2 2 0,1 0 0,1 0 0,1 1 0,3-2 0,0-1 0,1-1 0,0 0 0,-5 7 0,4-2 0,3-3 0,1 0 0,3-2 0,0 1 0,3-2 0,0 0 0,0 0 0,0 0 0,0 1 0,0 2 0,0 2 0,0 3 0,0 1 0,0 1 0,0-3 0,0-2 0,0-3 0,0-3 0,0 0 0,0 1 0,0 0 0,0 3 0,0 0 0,0 3 0,0 2 0,-4 2 0,-1-1 0,-1-1 0,-3-2 0,0-3 0,-1 0 0,-2 0 0,2 2 0,1 0 0,-1 2 0,2-1 0,-3 0 0,2-1 0,0-2 0,0-1 0,1 1 0,0 1 0,2-1 0,0 0 0,-2-2 0,2-2 0,0-1 0,2 0 0,1-1 0,1-1 0,-3-1 0,2 1 0,0 2 0,1 1 0,2 2 0,0-2 0,0 0 0,0-1 0,0 0 0,0 0 0,0 2 0,0 0 0,0 0 0,0-1 0,0 0 0,0-1 0,0 0 0,0-1 0,0 1 0,0-1 0,0 0 0,0 0 0,0-1 0,0 0 0,0 0 0,0 1 0,0 1 0,0 1 0,0 0 0,0 1 0,0-1 0,0 1 0,0-2 0,0 1 0,0-1 0,0 1 0,0 2 0,0 1 0,0 2 0,0-1 0,0 1 0,0 1 0,0-2 0,0 1 0,0-2 0,0-1 0,0 1 0,0-1 0,0-1 0,1-2 0,1-1 0,4-2 0,1 1 0,2-1 0,2 2 0,2 0 0,2 1 0,1-1 0,1 1 0,2-2 0,3 1 0,3-1 0,6 0 0,1 0 0,2-1 0,-2 0 0,-6-2 0,-3 0 0,-2-2 0,-2-1 0,1 0 0,-1-1 0,0 1 0,0-1 0,-1-1 0,-2 0 0,0 0 0,-1-1 0,1 0 0,0 0 0,2 0 0,2 0 0,-1 0 0,1 0 0,-1 0 0,2 0 0,4 0 0,4 0 0,0 0 0,-3 0 0,-3 0 0,-5 0 0,-3 0 0,-1 0 0,-1 0 0,0 0 0,0-1 0,-1-1 0,2-3 0,4-3 0,6-4 0,6-4 0,4 0 0,-1-1 0,-3 2 0,-4 2 0,-7 2 0,-3 1 0,-4-1 0,-3 1 0,2-1 0,-5 1 0,-1 1 0,-3 3 0,-2 1 0,0 1 0,0 0 0,0 0 0,0-1 0,0 0 0,0-2 0,0-1 0,0 0 0,0-1 0,0 1 0,0 0 0,0-2 0,0-2 0,0-1 0,0-1 0,0 1 0,0 1 0,0 2 0,0 1 0,0 1 0,0 0 0,0 0 0,0 0 0,0 2 0,0-1 0,0 0 0,0-1 0,-2-2 0,-4-1 0,0 0 0,-1 0 0,2 0 0,1 1 0,-1 0 0,-1-3 0,-3 0 0,1-3 0,1 1 0,0-1 0,1 3 0,0 1 0,1 1 0,0 1 0,3 0 0,0 2 0,2 0 0,0 2 0,0 0 0,0-2 0,0-1 0,0-3 0,0-1 0,0-1 0,0 2 0,0 2 0,0 2 0,0 2 0,0 0 0,-2-1 0,-1-1 0,-2-2 0,0 0 0,0 0 0,0 1 0,0 1 0,0-1 0,0-1 0,-3 0 0,2 0 0,0 0 0,1 0 0,2 0 0,-2 0 0,0 1 0,1 1 0,-1 0 0,2 0 0,-2-1 0,1-1 0,1 1 0,1-2 0,1 1 0,-1 1 0,-1 0 0,-2 1 0,1-1 0,-1-2 0,-1-1 0,0-1 0,0-3 0,3-3 0,0 0 0,3 0 0,0 1 0,0 3 0,0 3 0,0 2 0,0 1 0,0 1 0,0 1 0,0 1 0,0 0 0,0-1 0,0 2 0,0-1 0,0 0 0,0 1 0,0-2 0,0 1 0,0 0 0,0 1 0,0 0 0,0 1 0,0 0 0,0 0 0,0-1 0,0 1 0,0 0 0,0 0 0,0-1 0,0 1 0,0-1 0,2-1 0,2 1 0,3-2 0,0 1 0,0 0 0,-2 1 0,-2 0 0,2 0 0,-2 1 0,2 0 0,0 0 0,0-1 0,0 0 0,0 0 0,0 0 0,0 1 0,-3 1 0,2 1 0,-1 0 0,0 1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4T17:11:07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12112 113 24575,'-23'0'0,"-5"0"0,0 0 0,0 0 0,0 0 0,-11 0 0,-31 0 0,15 1 0,-9-2 0,-29-2 0,-11-3-633,16 0 0,-7-2 0,-3 0 633,11 1 0,-2-1 0,-3 0 0,0 1-435,12 1 1,-1 0-1,0 0 1,-1 0 0,0 1 434,0 1 0,0 0 0,-1 1 0,1 0 0,1 1 0,-18-1 0,0 2 0,1 0 0,1 0 0,3 1 0,0 0 0,1 0 0,-1 0 0,-1 2 0,-1 0 0,0 0 0,-1 1 0,-2 1 0,-1-1 0,0 2 0,1 0 0,2 0 0,0 0 0,1 1 0,2 1-275,5-1 0,1 1 1,1 0-1,2-1 275,-15 1 0,2-1 0,4-1-69,15-1 0,3 0 0,3-1 69,-24 0 0,5-1 771,15-2 1,3 0-772,11 0 0,2 0 1102,3 0 0,0 0-1102,0 0 0,0 0 676,-2 0 1,-1 0-677,-2 1 0,-1 0 138,-3 2 1,-1 1-139,-6 1 0,-2 1 0,-7 0 0,-3 0 0,19-2 0,-3-1 0,0-1-191,-5 0 1,-1 0 0,0-1 190,-1-1 0,0 0 0,1 0 0,3 0 0,1 0 0,3 0 0,-17 0 0,5 0 0,17 0 0,7 0 0,-11 0 0,26 0 0,-6 0 0,-32 0 0,11 0 0,-9 0 0,-17 0 0,-6 0-283,23 1 0,-2 1 0,-1 0 283,-3-1 0,0 1 0,0 0 0,3 0 0,1 0 0,0 0 0,1-1 0,-1 1 0,2-1 0,5-1 0,1 0 0,0 0 140,3 0 0,0 0 0,2 0-140,-26 0 0,3 0 0,9 0 0,2 0 0,1 0 0,1 0 0,1 0 0,2 0 0,5 0 0,1 0 434,6 0 0,2 0-434,-36 0 132,18 0-132,9 0 0,7 0 0,2 0 0,2 0 0,0 0 0,1 0 0,-2 0 0,0 1 0,-3 3 0,-1 3 0,-2 2 0,-1 5 0,3 4 0,0 4 0,5 2 0,4-1 0,0-1 0,1 0 0,2 0 0,1 0 0,4 2 0,3 2 0,3 3 0,2 3 0,3 2 0,1 3 0,-2 2 0,0 4 0,-2 4 0,3 0 0,6-1 0,4-1 0,6-2 0,4 2 0,4 2 0,5 4 0,3 8 0,1 9 0,2 6 0,0-2 0,0-1 0,0 9 0,4-1 0,5 2 0,7-3 0,5-8 0,4 2 0,8-1 0,8-2 0,7-2 0,5-4 0,-1-5 0,-2-5 0,5 0 0,10 4 0,-24-25 0,3 1 0,5 2 0,2 0 0,3-1 0,1 0 0,1 0 0,2-2 0,-1-1 0,1-1 0,4 1 0,1-2 0,1-1 0,1-1 0,-1-4 0,-1-1 0,-2-3 0,-1-1 0,-4-2 0,-1-2 0,-4-2 0,-1-1 0,44 7 0,-1-4 0,2-1 0,-43-5 0,0 0 0,2 1 0,0 0 0,1 1 0,1-1 0,5 1 0,1-1 0,3-1 0,2-1 0,8 0 0,1 0 0,7-1 0,2-1 0,4 0 0,3-2 0,-23-1 0,2-1 0,1 1-288,5-1 0,1-1 1,2 1 287,5-1 0,1 0 0,3 0 0,8 0 0,3 0 0,2 0-510,-21 0 0,2 0 0,1 0 0,1 0 510,8 0 0,3 0 0,0 0 0,1 0 0,-17 0 0,2 0 0,-1 0 0,1 1 0,-1-1 0,17 2 0,1 0 0,-1 0 0,-2 1 0,-6 0 0,0 1 0,-3 0 0,-1 0-251,16 2 1,-3 0 0,-3 0 250,-13 0 0,-2 0 0,-1-1 0,-4-2 0,0 0 0,-2 0 0,-2-2 0,0 0 0,0 0 0,6 0 0,0-1 0,1 0 0,6 0 0,2 0 0,-1 0 0,2 0 0,1 0 0,1 0 0,5 0 0,2 0 0,1 0-289,-23 1 1,1 1-1,0 0 1,0 1 288,24 2 0,-1 1 0,0 1 0,-5 1 0,-1 0 0,-4 1 169,-9-1 1,-3 0-1,-4 0-169,16 0 0,-8-2 939,-20-3 0,-3-1-939,-2-3 0,3-2 0,18-2 0,9-3 0,-3-2 0,8-1 0,6-2-469,-4 1 0,5-2 1,3 0-1,2-1 469,-12 3 0,2-2 0,1 1 0,1-1 0,-1 1 0,3-2 0,0 1 0,-1-1 0,0 0 0,-2 1 0,-8 1 0,-2 0 0,-1 1 0,-1 0 0,-2-1-38,12-1 1,-2 1 0,-2-1 0,-1 0 37,-8 0 0,-2 0 0,0 0 0,-1 1 0,23-3 0,-1 1 0,1 1 0,-23 4 0,0 1 0,0 1 0,-1 0 0,19 0 0,-1 1 0,-1 3-142,-3 1 0,-1 2 0,-1 0 142,-9 1 0,-1 0 0,-1 0 0,-4 0 0,-2 0 0,0 0-59,-1 0 1,-1 0-1,0 0 59,27 0 0,-1 0 0,-1 0 0,-1 0 0,-2 0 0,-1 0 0,-5 0 0,-1 0 1278,1 0 1,0 0-1279,-1 0 0,1 0 0,2 0 0,1 0 0,6 1 0,-1-2 0,-1-2 0,-2-2 0,-5-4 0,-4-3 752,-11-2 0,-4-3-752,-12 1 0,-3 0 755,26-6-755,12 12 116,-32 8 0,4 1-116,16 2 0,7 0 0,-13 1 0,3 0 0,2 1-199,3 1 1,0 1 0,1 0 198,-2 1 0,0 0 0,-2 0 0,26 3 0,-4-1 0,-18-1 0,-5-1 0,-11-2 0,-3-2 0,-6 0 0,-1 0 0,40 1 0,-8-3 0,-14 0 595,-12 0-595,-5-9 0,-1-10 0,10-18 0,9-14 0,6-4 0,-1 1 0,-13 11 0,-16 4 0,-15 2 0,-10-9 0,-7-9 0,-6-15 0,-6-12 0,-2-11 0,-2 43 0,-1 0 0,-1-1 0,-3 0 0,-13-44 0,-13 4 0,9 46 0,-3 0 0,-4-1 0,-3-1 0,-4-3 0,-3-2 0,-6-2 0,-1-1 0,-3-1 0,-2 0 0,-1-2 0,-2-1 0,-2 1 0,0 0 0,0 2 0,-1 2 0,3 4 0,0 4 0,5 6 0,1 4 0,4 7 0,0 2 0,-40-14 0,-1 9 0,-5 6 0,-5 2 0,44 13 0,0 0 0,-2 2 0,-1-1 0,0 1 0,0 0 0,2 1 0,0 1 0,-45-4 0,3 5 0,5 4 0,0 2 0,-3 0 0,-3 0 0,45-1 0,-1 2 0,-4 0 0,-1 2 0,-2 1 0,-1 1 0,0 2 0,0 2 0,0 2 0,1 1 0,4 1 0,1 0 0,3 0 0,0 0 0,1 0 0,0-1 0,-44 13 0,2-1 0,-4 4 0,47-14 0,0 0 0,-1 0 0,1 0 0,-47 14 0,5 0 0,7-1 0,7-1 0,11-6 0,6-4 0,8-7 0,4-3 0,3 1 0,4-2 0,-2 3 0,-2 0 0,-4-1 0,-5 1 0,-6-2 0,-7-2 0,-6-1 0,-5-2 0,-2-1 0,3 0 0,3 0 0,4 0 0,4 0 0,4 0 0,8 0 0,3 0 0,3-1 0,1-1 0,4-4 0,4-3 0,4-2 0,3 0 0,2 0 0,1 1 0,-1 0 0,2-2 0,-2 3 0,1 2 0,-1-1 0,0 0 0,1-5 0,2 0 0,3-1 0,1 0 0,3 1 0,0-2 0,2 2 0,0 1 0,3 2 0,-1 3 0,0 0 0,3 1 0,-2 1 0,1-1 0,-1-1 0,0 0 0,2-1 0,0 2 0,4 2 0,0 0 0,3 1 0,1 1 0,0 0 0,0 2 0,-2-2 0,-2-2 0,-4 0 0,-3-3 0,-3 0 0,1-1 0,1 0 0,2 1 0,2 1 0,1 1 0,-2-2 0,-2 1 0,-1-1 0,-1 1 0,1 1 0,-1 0 0,-1 1 0,0-1 0,-2 0 0,3-2 0,0 1 0,2-1 0,1 1 0,2-1 0,2 0 0,1 1 0,2-1 0,-1 0 0,-1-1 0,1-1 0,-1 0 0,2 1 0,0 2 0,-1 0 0,0 1 0,0 1 0,0-1 0,1-1 0,1 0 0,0 1 0,1 0 0,0 2 0,1-1 0,1-2 0,-1 2 0,2-2 0,0-5 0,-3-7 0,-1-5 0,-2 0 0,1 10 0,4 9 0,1 7 0,5 0 0,1-1 0,0 0 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C1045-83A4-F244-89BA-E7F816A2A8BA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BA7E1-CB2A-D74F-992F-7CADFD627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78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faces of each set were displayed in a row to 25 participants, asked to put them into two groups.</a:t>
            </a:r>
          </a:p>
          <a:p>
            <a:r>
              <a:rPr lang="en-US" dirty="0"/>
              <a:t>In group 1, people put C and P together. The smiling faces. And A and B, the non-</a:t>
            </a:r>
            <a:r>
              <a:rPr lang="en-US" dirty="0" err="1"/>
              <a:t>smiing</a:t>
            </a:r>
            <a:r>
              <a:rPr lang="en-US" dirty="0"/>
              <a:t> faces together.</a:t>
            </a:r>
          </a:p>
          <a:p>
            <a:endParaRPr lang="en-US" dirty="0"/>
          </a:p>
          <a:p>
            <a:r>
              <a:rPr lang="en-US" dirty="0"/>
              <a:t>In B, the </a:t>
            </a:r>
            <a:r>
              <a:rPr lang="en-US" dirty="0" err="1"/>
              <a:t>frowing</a:t>
            </a:r>
            <a:r>
              <a:rPr lang="en-US" dirty="0"/>
              <a:t> faces were grouped together. </a:t>
            </a:r>
          </a:p>
          <a:p>
            <a:endParaRPr lang="en-US" dirty="0"/>
          </a:p>
          <a:p>
            <a:r>
              <a:rPr lang="en-US" dirty="0"/>
              <a:t>So the changing of P and Q actually changed where A would be grouped.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BA7E1-CB2A-D74F-992F-7CADFD6278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4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A32F7-F07C-7AAC-63D4-5257320F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E554C-4A9A-D34A-B1FF-521C4ABDB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FD17F-54C5-28D5-9DB0-4F7E2474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faces of each set were displayed in a row to 25 participants, asked to put them into two groups.</a:t>
            </a:r>
          </a:p>
          <a:p>
            <a:r>
              <a:rPr lang="en-US" dirty="0"/>
              <a:t>In group 1, people put C and P together. The smiling faces. And A and B, the non-</a:t>
            </a:r>
            <a:r>
              <a:rPr lang="en-US" dirty="0" err="1"/>
              <a:t>smiing</a:t>
            </a:r>
            <a:r>
              <a:rPr lang="en-US" dirty="0"/>
              <a:t> faces together.</a:t>
            </a:r>
          </a:p>
          <a:p>
            <a:endParaRPr lang="en-US" dirty="0"/>
          </a:p>
          <a:p>
            <a:r>
              <a:rPr lang="en-US" dirty="0"/>
              <a:t>In B, the </a:t>
            </a:r>
            <a:r>
              <a:rPr lang="en-US" dirty="0" err="1"/>
              <a:t>frowing</a:t>
            </a:r>
            <a:r>
              <a:rPr lang="en-US" dirty="0"/>
              <a:t> faces were grouped together. </a:t>
            </a:r>
          </a:p>
          <a:p>
            <a:endParaRPr lang="en-US" dirty="0"/>
          </a:p>
          <a:p>
            <a:r>
              <a:rPr lang="en-US" dirty="0"/>
              <a:t>So the changing of P and Q actually changed where A would be grouped.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7D816-F8F8-7913-B4B8-E5F665C9F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BA7E1-CB2A-D74F-992F-7CADFD6278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49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2A5E-ED5A-ED07-E33D-EA38DEB1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7BFCF-AFE3-6463-A444-0C3EE7675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B14DC-C80A-4439-AF71-8F070AEB3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faces of each set were displayed in a row to 25 participants, asked to put them into two groups.</a:t>
            </a:r>
          </a:p>
          <a:p>
            <a:r>
              <a:rPr lang="en-US" dirty="0"/>
              <a:t>In group 1, people put C and P together. The smiling faces. And A and B, the non-</a:t>
            </a:r>
            <a:r>
              <a:rPr lang="en-US" dirty="0" err="1"/>
              <a:t>smiing</a:t>
            </a:r>
            <a:r>
              <a:rPr lang="en-US" dirty="0"/>
              <a:t> faces together.</a:t>
            </a:r>
          </a:p>
          <a:p>
            <a:endParaRPr lang="en-US" dirty="0"/>
          </a:p>
          <a:p>
            <a:r>
              <a:rPr lang="en-US" dirty="0"/>
              <a:t>In B, the </a:t>
            </a:r>
            <a:r>
              <a:rPr lang="en-US" dirty="0" err="1"/>
              <a:t>frowing</a:t>
            </a:r>
            <a:r>
              <a:rPr lang="en-US" dirty="0"/>
              <a:t> faces were grouped together. </a:t>
            </a:r>
          </a:p>
          <a:p>
            <a:endParaRPr lang="en-US" dirty="0"/>
          </a:p>
          <a:p>
            <a:r>
              <a:rPr lang="en-US" dirty="0"/>
              <a:t>So the changing of P and Q actually changed where A would be grouped.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48B10-467F-D70E-43C5-63137C5A6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BA7E1-CB2A-D74F-992F-7CADFD6278E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2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Asked participants to group countries, and the substitution of Poland for Norway changed the grouping from Sweden to Hungary.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BA7E1-CB2A-D74F-992F-7CADFD6278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1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7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1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4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3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6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5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75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7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2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7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65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3" Type="http://schemas.openxmlformats.org/officeDocument/2006/relationships/image" Target="../media/image4.svg"/><Relationship Id="rId12" Type="http://schemas.openxmlformats.org/officeDocument/2006/relationships/customXml" Target="../ink/ink3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.png"/><Relationship Id="rId5" Type="http://schemas.openxmlformats.org/officeDocument/2006/relationships/customXml" Target="../ink/ink1.xml"/><Relationship Id="rId10" Type="http://schemas.openxmlformats.org/officeDocument/2006/relationships/customXml" Target="../ink/ink2.xml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16A86B-4F39-7C16-1A62-9CE5885BAC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4" r="10277" b="-1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4CCF31-A432-2B90-8EAB-1DD7FA911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Similarity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70856-FA7B-1CB2-54AC-9BAB7D689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dirty="0"/>
              <a:t>How do we judge the likeness of two songs?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Grammys Came up Black This Year | Black Girl Nerds">
            <a:extLst>
              <a:ext uri="{FF2B5EF4-FFF2-40B4-BE49-F238E27FC236}">
                <a16:creationId xmlns:a16="http://schemas.microsoft.com/office/drawing/2014/main" id="{31B99C62-C0E3-2F1D-87D4-728E53326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8" r="10626" b="-1"/>
          <a:stretch/>
        </p:blipFill>
        <p:spPr bwMode="auto">
          <a:xfrm>
            <a:off x="4981575" y="735286"/>
            <a:ext cx="6495042" cy="541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D60CF0-BFFE-CE07-21A7-79A1B5C0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 dirty="0"/>
              <a:t>Beyonce on Genre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B780-C8FD-CEE5-003B-5E5A0E9E8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US" dirty="0"/>
              <a:t>“I think sometimes 'genre' is a code word to keep us in our place as artists.” </a:t>
            </a:r>
          </a:p>
          <a:p>
            <a:r>
              <a:rPr lang="en-US" dirty="0"/>
              <a:t>“I just want to encourage people to do what they're passionate about and to stay consistent”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03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F73DE-EE8C-A8DF-8E41-414BB0B5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 would you grade these?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774B76-FC13-1525-713E-EB05CA490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9841" y="1102409"/>
            <a:ext cx="8234589" cy="16285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8B00019-852B-F928-CA09-F87F58623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9841" y="2808327"/>
            <a:ext cx="8224253" cy="16285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AA978D0-1185-E220-6D7A-3F4734C5BA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959" y="4586277"/>
            <a:ext cx="8224405" cy="162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81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C2EF-4078-CB1B-B55A-D55D8245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think of music as similar or not?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D4F77-4B14-85A2-0C89-F606F74D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Similarity as Spatial Distance</a:t>
            </a:r>
          </a:p>
          <a:p>
            <a:r>
              <a:rPr lang="en-US" dirty="0"/>
              <a:t>Similarity as Feature Set Interaction</a:t>
            </a:r>
          </a:p>
          <a:p>
            <a:r>
              <a:rPr lang="en-US" dirty="0"/>
              <a:t>Similarity as Transformation</a:t>
            </a:r>
          </a:p>
          <a:p>
            <a:r>
              <a:rPr lang="en-US" dirty="0"/>
              <a:t>Similarity as Alignment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21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7.png">
            <a:extLst>
              <a:ext uri="{FF2B5EF4-FFF2-40B4-BE49-F238E27FC236}">
                <a16:creationId xmlns:a16="http://schemas.microsoft.com/office/drawing/2014/main" id="{28BD1C84-6A79-57D4-BD2B-7F40CDAA05C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930" y="438919"/>
            <a:ext cx="9691830" cy="633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6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A3F8-EC3B-CD46-8A3A-46E392D2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8E1E-2923-9EE1-3097-0F73DAFC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as Transformation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26555E-CDC2-8D61-A3B6-03A8B23A2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distance between:</a:t>
            </a:r>
          </a:p>
          <a:p>
            <a:pPr lvl="1"/>
            <a:r>
              <a:rPr lang="en-US" dirty="0"/>
              <a:t>“Dan Shanahan” and Irish rugby star “Dan Sheehan”?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Dan Sh</a:t>
            </a:r>
            <a:r>
              <a:rPr lang="en-US" b="1" dirty="0"/>
              <a:t>a</a:t>
            </a:r>
            <a:r>
              <a:rPr lang="en-US" dirty="0"/>
              <a:t>nahan </a:t>
            </a:r>
            <a:r>
              <a:rPr lang="en-US" dirty="0">
                <a:sym typeface="Wingdings" pitchFamily="2" charset="2"/>
              </a:rPr>
              <a:t> Dan </a:t>
            </a:r>
            <a:r>
              <a:rPr lang="en-US" dirty="0" err="1">
                <a:sym typeface="Wingdings" pitchFamily="2" charset="2"/>
              </a:rPr>
              <a:t>Sh?eehan</a:t>
            </a:r>
            <a:r>
              <a:rPr lang="en-US" dirty="0">
                <a:sym typeface="Wingdings" pitchFamily="2" charset="2"/>
              </a:rPr>
              <a:t> (1 deletion)</a:t>
            </a:r>
          </a:p>
          <a:p>
            <a:pPr lvl="1"/>
            <a:r>
              <a:rPr lang="en-US" dirty="0"/>
              <a:t>Dan Sha</a:t>
            </a:r>
            <a:r>
              <a:rPr lang="en-US" b="1" dirty="0"/>
              <a:t>na</a:t>
            </a:r>
            <a:r>
              <a:rPr lang="en-US" dirty="0"/>
              <a:t>han </a:t>
            </a:r>
            <a:r>
              <a:rPr lang="en-US" dirty="0">
                <a:sym typeface="Wingdings" pitchFamily="2" charset="2"/>
              </a:rPr>
              <a:t> Dan Sh</a:t>
            </a:r>
            <a:r>
              <a:rPr lang="en-US" b="1" dirty="0">
                <a:sym typeface="Wingdings" pitchFamily="2" charset="2"/>
              </a:rPr>
              <a:t>ee</a:t>
            </a:r>
            <a:r>
              <a:rPr lang="en-US" dirty="0">
                <a:sym typeface="Wingdings" pitchFamily="2" charset="2"/>
              </a:rPr>
              <a:t>han (2 substitutions)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r>
              <a:rPr lang="en-US" dirty="0" err="1">
                <a:sym typeface="Wingdings" pitchFamily="2" charset="2"/>
              </a:rPr>
              <a:t>Levenshtein</a:t>
            </a:r>
            <a:r>
              <a:rPr lang="en-US" dirty="0">
                <a:sym typeface="Wingdings" pitchFamily="2" charset="2"/>
              </a:rPr>
              <a:t> Distance == </a:t>
            </a:r>
            <a:r>
              <a:rPr lang="en-US" b="1" dirty="0">
                <a:sym typeface="Wingdings" pitchFamily="2" charset="2"/>
              </a:rPr>
              <a:t>3!</a:t>
            </a:r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1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54C6-6D9D-5CE8-E308-A57DA959F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5825-2595-D44D-4C21-F2E00974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as Transformation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897B86-81DD-694B-1074-7BB8A66AD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2646659"/>
            <a:ext cx="10691812" cy="372088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68346C-5DCD-27B2-6C2A-6546EDC3B278}"/>
              </a:ext>
            </a:extLst>
          </p:cNvPr>
          <p:cNvSpPr txBox="1"/>
          <p:nvPr/>
        </p:nvSpPr>
        <p:spPr>
          <a:xfrm>
            <a:off x="7447547" y="2334126"/>
            <a:ext cx="721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Helpful table from Wikipedia</a:t>
            </a:r>
          </a:p>
        </p:txBody>
      </p:sp>
    </p:spTree>
    <p:extLst>
      <p:ext uri="{BB962C8B-B14F-4D97-AF65-F5344CB8AC3E}">
        <p14:creationId xmlns:p14="http://schemas.microsoft.com/office/powerpoint/2010/main" val="224916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FDE1-5AE3-77BE-0EB7-5E95749EE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C3C16-C3A4-6D2B-B014-AA50F7460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Edit Distance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202246-C22A-1BD7-2631-0C57423B6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9841" y="1102409"/>
            <a:ext cx="8234589" cy="16285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5A2F0DD-44C7-46E5-CCD7-158A3939C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9841" y="2808327"/>
            <a:ext cx="8224253" cy="16285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0AED989-0027-23EF-EC09-533F71A2F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959" y="4586277"/>
            <a:ext cx="8224405" cy="162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9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4A542-B129-A3A2-7605-C5001623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99239-F6DA-7879-13DC-6BDFB9C5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2" y="733648"/>
            <a:ext cx="3464120" cy="40803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Edit Distance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F8D2E9-1A5D-2B16-947F-BC399D38F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9841" y="1102409"/>
            <a:ext cx="8234589" cy="16285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8DD3A17-4A2B-1412-2138-7C5D84F43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9841" y="2808327"/>
            <a:ext cx="8224253" cy="16285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DC1F081-A3A4-9F34-03BA-5BA9E4CFC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959" y="4586277"/>
            <a:ext cx="8224405" cy="16285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E38B77-DF65-F0E1-6921-CAA8CB59D199}"/>
                  </a:ext>
                </a:extLst>
              </p14:cNvPr>
              <p14:cNvContentPartPr/>
              <p14:nvPr/>
            </p14:nvContentPartPr>
            <p14:xfrm>
              <a:off x="6079509" y="1601394"/>
              <a:ext cx="429120" cy="267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E38B77-DF65-F0E1-6921-CAA8CB59D1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70509" y="1592394"/>
                <a:ext cx="446760" cy="269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499D55-39C3-5DDA-DC2D-7114AD9E38B6}"/>
                  </a:ext>
                </a:extLst>
              </p14:cNvPr>
              <p14:cNvContentPartPr/>
              <p14:nvPr/>
            </p14:nvContentPartPr>
            <p14:xfrm>
              <a:off x="10430930" y="1763892"/>
              <a:ext cx="429120" cy="666487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499D55-39C3-5DDA-DC2D-7114AD9E38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21930" y="1754895"/>
                <a:ext cx="446760" cy="68412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DCCDDE6-5E79-BBFA-22F7-EEBD03E631D0}"/>
              </a:ext>
            </a:extLst>
          </p:cNvPr>
          <p:cNvSpPr txBox="1"/>
          <p:nvPr/>
        </p:nvSpPr>
        <p:spPr>
          <a:xfrm>
            <a:off x="2875547" y="2779295"/>
            <a:ext cx="205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 Distance of 2?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627786-1220-38FD-0D40-DF765467EA2B}"/>
                  </a:ext>
                </a:extLst>
              </p14:cNvPr>
              <p14:cNvContentPartPr/>
              <p14:nvPr/>
            </p14:nvContentPartPr>
            <p14:xfrm>
              <a:off x="5134509" y="5017794"/>
              <a:ext cx="6743880" cy="1164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627786-1220-38FD-0D40-DF765467EA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25509" y="5009154"/>
                <a:ext cx="6761520" cy="11822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94A3BB2-51D1-347B-7D2E-4F412A41D786}"/>
              </a:ext>
            </a:extLst>
          </p:cNvPr>
          <p:cNvSpPr txBox="1"/>
          <p:nvPr/>
        </p:nvSpPr>
        <p:spPr>
          <a:xfrm>
            <a:off x="2811376" y="4567990"/>
            <a:ext cx="4750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 distance of 12, if only looking at pitches…</a:t>
            </a:r>
          </a:p>
        </p:txBody>
      </p:sp>
    </p:spTree>
    <p:extLst>
      <p:ext uri="{BB962C8B-B14F-4D97-AF65-F5344CB8AC3E}">
        <p14:creationId xmlns:p14="http://schemas.microsoft.com/office/powerpoint/2010/main" val="149673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667603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14.png">
            <a:extLst>
              <a:ext uri="{FF2B5EF4-FFF2-40B4-BE49-F238E27FC236}">
                <a16:creationId xmlns:a16="http://schemas.microsoft.com/office/drawing/2014/main" id="{ABE42F73-D422-8641-7220-762586FA31D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2812" y="763143"/>
            <a:ext cx="5119088" cy="3544966"/>
          </a:xfrm>
          <a:prstGeom prst="rect">
            <a:avLst/>
          </a:prstGeom>
        </p:spPr>
      </p:pic>
      <p:pic>
        <p:nvPicPr>
          <p:cNvPr id="5" name="image2.png">
            <a:extLst>
              <a:ext uri="{FF2B5EF4-FFF2-40B4-BE49-F238E27FC236}">
                <a16:creationId xmlns:a16="http://schemas.microsoft.com/office/drawing/2014/main" id="{748A26E5-4C72-3891-A0DB-1A0240C7F6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0100" y="2331301"/>
            <a:ext cx="5134573" cy="1976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27E547-4404-5D52-16C9-176FAEC1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742029"/>
            <a:ext cx="10765912" cy="925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Similarity as Spatial Distance</a:t>
            </a:r>
          </a:p>
        </p:txBody>
      </p:sp>
    </p:spTree>
    <p:extLst>
      <p:ext uri="{BB962C8B-B14F-4D97-AF65-F5344CB8AC3E}">
        <p14:creationId xmlns:p14="http://schemas.microsoft.com/office/powerpoint/2010/main" val="2338677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999EE-F0BE-5A25-681A-A0BD1B100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775B28-66DE-076F-94BC-4A5BD3E3B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0B8A7C-1009-E737-95AB-5F3FF116A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D1F5F23-4120-4557-DFD5-B783A3781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AC95EC-8636-164A-5B26-4464EEBE3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667603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2.png">
            <a:extLst>
              <a:ext uri="{FF2B5EF4-FFF2-40B4-BE49-F238E27FC236}">
                <a16:creationId xmlns:a16="http://schemas.microsoft.com/office/drawing/2014/main" id="{C696349E-08C6-5A6E-3922-D449E2DF43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00100" y="2331301"/>
            <a:ext cx="5134573" cy="1976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1C2F7-533A-FD91-ADFB-206DCEAD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742029"/>
            <a:ext cx="10765912" cy="925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Similarity as Spatial Distance</a:t>
            </a:r>
          </a:p>
        </p:txBody>
      </p:sp>
      <p:pic>
        <p:nvPicPr>
          <p:cNvPr id="7" name="image11.png" descr="Chart, diagram, bubble chart&#10;&#10;Description automatically generated">
            <a:extLst>
              <a:ext uri="{FF2B5EF4-FFF2-40B4-BE49-F238E27FC236}">
                <a16:creationId xmlns:a16="http://schemas.microsoft.com/office/drawing/2014/main" id="{E69DBDFF-9674-344D-7CC0-290F13883E4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632448" y="133518"/>
            <a:ext cx="5460087" cy="453407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4095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5A542-263B-85C5-E5E8-EF625303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Theme and Variations</a:t>
            </a:r>
          </a:p>
        </p:txBody>
      </p:sp>
      <p:pic>
        <p:nvPicPr>
          <p:cNvPr id="4" name="image15.png">
            <a:extLst>
              <a:ext uri="{FF2B5EF4-FFF2-40B4-BE49-F238E27FC236}">
                <a16:creationId xmlns:a16="http://schemas.microsoft.com/office/drawing/2014/main" id="{AB102FF5-CF46-C5DA-B20F-3002554F954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7763" y="406400"/>
            <a:ext cx="5196474" cy="519647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763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D417-EF4B-A96B-066D-527F65B1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a Spatial Distance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30949-4359-0C20-19D8-14F0AE0C9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identical objects have the same “address” in space, they must then </a:t>
            </a:r>
            <a:r>
              <a:rPr lang="en-US" i="1" dirty="0"/>
              <a:t>always </a:t>
            </a:r>
            <a:r>
              <a:rPr lang="en-US" dirty="0"/>
              <a:t>be the same level of similar to one another.</a:t>
            </a:r>
          </a:p>
          <a:p>
            <a:pPr lvl="1"/>
            <a:endParaRPr lang="en-US" sz="1800" dirty="0">
              <a:effectLst/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/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Krumhansl (1979) observed that it is </a:t>
            </a:r>
            <a:r>
              <a:rPr lang="en-US" sz="18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easier to judge two chords to be identical if they are central to the key rather than out-of-key.</a:t>
            </a: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 </a:t>
            </a:r>
          </a:p>
          <a:p>
            <a:pPr lvl="2"/>
            <a:endParaRPr lang="en-US" dirty="0">
              <a:effectLst/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2"/>
            <a:r>
              <a:rPr lang="en-US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Some objects are easier to recognize as similar than others.</a:t>
            </a:r>
          </a:p>
          <a:p>
            <a:pPr lvl="2"/>
            <a:endParaRPr lang="en-US" dirty="0">
              <a:latin typeface="Academico" panose="02040603050705020304" pitchFamily="18" charset="77"/>
            </a:endParaRPr>
          </a:p>
          <a:p>
            <a:pPr lvl="1"/>
            <a:r>
              <a:rPr lang="en-US" dirty="0">
                <a:latin typeface="Academico" panose="02040603050705020304" pitchFamily="18" charset="77"/>
              </a:rPr>
              <a:t>Think of the classification work from Week 1: knowledge of something informs how you judge it to be similar.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73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50A68-A290-04E1-BF48-2F7253E3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AF85-9413-C900-E22D-80BB675A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a Spatial Distance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47907-837A-7A99-A91C-76DC1A7B0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 of </a:t>
            </a:r>
            <a:r>
              <a:rPr lang="en-US" b="1" dirty="0"/>
              <a:t>symmetry:</a:t>
            </a:r>
          </a:p>
          <a:p>
            <a:pPr lvl="1"/>
            <a:endParaRPr lang="en-US" b="1" dirty="0"/>
          </a:p>
          <a:p>
            <a:pPr lvl="1"/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Similarity of A and B must be the same as that between B and A. </a:t>
            </a:r>
          </a:p>
          <a:p>
            <a:pPr lvl="1"/>
            <a:endParaRPr lang="en-US" b="1" dirty="0">
              <a:latin typeface="Academico" panose="02040603050705020304" pitchFamily="18" charset="77"/>
            </a:endParaRPr>
          </a:p>
          <a:p>
            <a:pPr lvl="1"/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James Bartlett and Jay Dowling (1988) found that when a diatonic melody followed a highly chromatic one, participants tended to judge the two to be more similar than when the presentation order was reversed. </a:t>
            </a:r>
          </a:p>
          <a:p>
            <a:pPr lvl="1"/>
            <a:endParaRPr lang="en-US" b="1" dirty="0">
              <a:latin typeface="Academico" panose="02040603050705020304" pitchFamily="18" charset="77"/>
            </a:endParaRPr>
          </a:p>
          <a:p>
            <a:pPr lvl="1"/>
            <a:r>
              <a:rPr lang="en-US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P</a:t>
            </a: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henomena differ in terms of our familiarity and fluency with them: </a:t>
            </a:r>
          </a:p>
          <a:p>
            <a:pPr lvl="2"/>
            <a:r>
              <a:rPr lang="en-US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Unfamiliar </a:t>
            </a:r>
            <a:r>
              <a:rPr lang="en-US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  <a:sym typeface="Wingdings" pitchFamily="2" charset="2"/>
              </a:rPr>
              <a:t> familiar is easier than familiar  unfamiliar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1763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BFEB0-A26D-6D60-DB0B-4508F25F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7AED-4E9D-DC12-4043-4EFB52EEE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a Spatial Distance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D6016-1192-54B0-1366-A4280E18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6300240" cy="3739896"/>
          </a:xfrm>
        </p:spPr>
        <p:txBody>
          <a:bodyPr>
            <a:normAutofit/>
          </a:bodyPr>
          <a:lstStyle/>
          <a:p>
            <a:r>
              <a:rPr lang="en-US" dirty="0"/>
              <a:t>The problem of </a:t>
            </a:r>
            <a:r>
              <a:rPr lang="en-US" b="1" dirty="0"/>
              <a:t>transitivity </a:t>
            </a:r>
            <a:r>
              <a:rPr lang="en-US" dirty="0"/>
              <a:t>(or </a:t>
            </a:r>
            <a:r>
              <a:rPr lang="en-US" b="1" dirty="0"/>
              <a:t>“triangle inequality”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Jamaica is similar to Cuba (because of geographical proximity); </a:t>
            </a:r>
          </a:p>
          <a:p>
            <a:pPr lvl="1"/>
            <a:r>
              <a:rPr lang="en-US" dirty="0"/>
              <a:t>Cuba is similar to Russia (because of their political affinity); </a:t>
            </a:r>
          </a:p>
          <a:p>
            <a:pPr lvl="1"/>
            <a:r>
              <a:rPr lang="en-US" dirty="0"/>
              <a:t>Jamaica and Russia are not similar at all.</a:t>
            </a:r>
          </a:p>
          <a:p>
            <a:pPr lvl="1"/>
            <a:endParaRPr lang="en-US" dirty="0"/>
          </a:p>
          <a:p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In other words, if A is similar to B, and B is similar to C, then A should not be too dissimilar to C. </a:t>
            </a:r>
            <a:endParaRPr lang="en-US" dirty="0"/>
          </a:p>
          <a:p>
            <a:pPr lvl="1"/>
            <a:endParaRPr lang="en-US" b="1" dirty="0"/>
          </a:p>
        </p:txBody>
      </p:sp>
      <p:pic>
        <p:nvPicPr>
          <p:cNvPr id="4" name="image3.png" descr="Diagram&#10;&#10;Description automatically generated">
            <a:extLst>
              <a:ext uri="{FF2B5EF4-FFF2-40B4-BE49-F238E27FC236}">
                <a16:creationId xmlns:a16="http://schemas.microsoft.com/office/drawing/2014/main" id="{136CDB2C-986A-5F35-8E04-DE5920BD13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766561" y="2490216"/>
            <a:ext cx="5206936" cy="185013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205950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19D7A-5E7B-C911-2AEF-6CF32389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A5023-7AA8-E5B3-4A83-39E280DB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a Spatial Distance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DAB45-4BB9-4DE9-5D0F-A11767EBE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9248036" cy="3739896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To summarize:</a:t>
            </a:r>
          </a:p>
          <a:p>
            <a:endParaRPr lang="en-US" sz="18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/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Spatial accounts assume </a:t>
            </a:r>
            <a:r>
              <a:rPr lang="en-US" sz="16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reflexivity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, </a:t>
            </a:r>
            <a:r>
              <a:rPr lang="en-US" sz="16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symmetry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, and </a:t>
            </a:r>
            <a:r>
              <a:rPr lang="en-US" sz="16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transitivity</a:t>
            </a:r>
            <a:endParaRPr lang="en-US" sz="1600" b="1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/>
            <a:endParaRPr lang="en-US" sz="1600" b="1" dirty="0">
              <a:effectLst/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/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B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ut these assumptions are frequently at odds with perceptual judgments of similarity</a:t>
            </a:r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4834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8.png">
            <a:extLst>
              <a:ext uri="{FF2B5EF4-FFF2-40B4-BE49-F238E27FC236}">
                <a16:creationId xmlns:a16="http://schemas.microsoft.com/office/drawing/2014/main" id="{CF55D641-D33F-2C69-E7EB-4F111B27994D}"/>
              </a:ext>
            </a:extLst>
          </p:cNvPr>
          <p:cNvPicPr/>
          <p:nvPr/>
        </p:nvPicPr>
        <p:blipFill>
          <a:blip r:embed="rId2"/>
          <a:srcRect l="265" r="264" b="-1"/>
          <a:stretch/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8A0E03-9D51-74BF-002B-F411D4696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Similarity as Feature-Set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5C8F-2FFB-8EF8-E562-29362DAA0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Tversky argued that similarity is perceived in terms of discrete features. </a:t>
            </a: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The perceived similarity between two objects increases when they have more features in common and decreases when they have more unique features.</a:t>
            </a:r>
            <a:r>
              <a:rPr lang="en-US" dirty="0">
                <a:effectLst/>
              </a:rPr>
              <a:t> 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70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1C4FB-E544-1961-FA71-8E595AA1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BCED3-2BD7-2DB6-32E1-326DD694D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FE873-59D8-DB73-814F-30775F5E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7976616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Similarity as Feature-Set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830AF-9930-7D70-64F3-A5D21F70B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11487912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Tversky: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he importance of features should vary as a function of their </a:t>
            </a:r>
            <a:r>
              <a:rPr lang="en-US" sz="1600" b="1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salience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. </a:t>
            </a:r>
          </a:p>
          <a:p>
            <a:pPr lvl="1">
              <a:lnSpc>
                <a:spcPct val="100000"/>
              </a:lnSpc>
            </a:pPr>
            <a:endParaRPr lang="en-US" sz="16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Salience is measured through two types of factors: </a:t>
            </a:r>
            <a:r>
              <a:rPr lang="en-US" sz="16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intensive 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and </a:t>
            </a:r>
            <a:r>
              <a:rPr lang="en-US" sz="16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diagnostic.</a:t>
            </a:r>
          </a:p>
          <a:p>
            <a:pPr lvl="1">
              <a:lnSpc>
                <a:spcPct val="100000"/>
              </a:lnSpc>
            </a:pPr>
            <a:endParaRPr lang="en-US" sz="1600" b="1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b="1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Intensive: </a:t>
            </a:r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the brightness of a light; the loudness of a tone; the saturation of a color.</a:t>
            </a:r>
            <a:endParaRPr lang="en-US" sz="1600" dirty="0">
              <a:effectLst/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endParaRPr lang="en-US" sz="16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endParaRPr lang="en-US" sz="16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Diagnostic: the “classificatory significance of the features”.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F</a:t>
            </a:r>
            <a:r>
              <a:rPr lang="en-US" sz="14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eatures become more salient when they help to distinguish objects from one another—in other words, when they become more analytically useful or “diagnostic.” 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7255AF-3496-9CC6-250F-EB008B43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254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3B61E-BDE8-6F0B-3338-BBEF1832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0DC05C-848F-542C-4045-D79759C5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DF25D-8609-8D63-3DAD-CAB12970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7976616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Similarity as Feature-Set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6C571-1B05-B347-8CDF-62C244A63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11487912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Tversky: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he importance of features should vary as a function of their </a:t>
            </a:r>
            <a:r>
              <a:rPr lang="en-US" sz="1600" b="1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salience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. </a:t>
            </a:r>
          </a:p>
          <a:p>
            <a:pPr lvl="1">
              <a:lnSpc>
                <a:spcPct val="100000"/>
              </a:lnSpc>
            </a:pPr>
            <a:endParaRPr lang="en-US" sz="16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Salience is measured through two types of factors: </a:t>
            </a:r>
            <a:r>
              <a:rPr lang="en-US" sz="16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intensive </a:t>
            </a:r>
            <a:r>
              <a:rPr lang="en-US" sz="16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and </a:t>
            </a:r>
            <a:r>
              <a:rPr lang="en-US" sz="16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diagnostic.</a:t>
            </a:r>
          </a:p>
          <a:p>
            <a:pPr lvl="1">
              <a:lnSpc>
                <a:spcPct val="100000"/>
              </a:lnSpc>
            </a:pPr>
            <a:endParaRPr lang="en-US" sz="1600" b="1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b="1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Intensive: </a:t>
            </a:r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the brightness of a light; the loudness of a tone; the saturation of a color.</a:t>
            </a:r>
            <a:endParaRPr lang="en-US" sz="1600" dirty="0">
              <a:effectLst/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endParaRPr lang="en-US" sz="16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endParaRPr lang="en-US" sz="16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Diagnostic: the “classificatory significance of the features”.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F</a:t>
            </a:r>
            <a:r>
              <a:rPr lang="en-US" sz="14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eatures become more salient when they help to distinguish objects from one another—in other words, when they become more analytically useful or “diagnostic.” 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1CD318-6DD4-D969-E3F6-96AD96DBF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487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F06B9-F528-0417-84E1-4EB902FC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oup of black and white faces&#10;&#10;AI-generated content may be incorrect.">
            <a:extLst>
              <a:ext uri="{FF2B5EF4-FFF2-40B4-BE49-F238E27FC236}">
                <a16:creationId xmlns:a16="http://schemas.microsoft.com/office/drawing/2014/main" id="{A73A2E4E-1C0F-E629-2020-F6FFC1DCD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514" y="2819399"/>
            <a:ext cx="4909826" cy="3166837"/>
          </a:xfrm>
          <a:prstGeom prst="rect">
            <a:avLst/>
          </a:prstGeom>
        </p:spPr>
      </p:pic>
      <p:pic>
        <p:nvPicPr>
          <p:cNvPr id="4" name="Content Placeholder 3" descr="A group of black and white faces&#10;&#10;AI-generated content may be incorrect.">
            <a:extLst>
              <a:ext uri="{FF2B5EF4-FFF2-40B4-BE49-F238E27FC236}">
                <a16:creationId xmlns:a16="http://schemas.microsoft.com/office/drawing/2014/main" id="{44819F67-830B-8CB4-FAA5-EB2B1A135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94431" y="2819400"/>
            <a:ext cx="4890867" cy="3166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2C1BEA-D0BC-C534-37B2-96B1A201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Similarity as Feature-Set Interaction</a:t>
            </a:r>
          </a:p>
        </p:txBody>
      </p:sp>
    </p:spTree>
    <p:extLst>
      <p:ext uri="{BB962C8B-B14F-4D97-AF65-F5344CB8AC3E}">
        <p14:creationId xmlns:p14="http://schemas.microsoft.com/office/powerpoint/2010/main" val="3933957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6BC26-ECF3-FB15-C3C7-28A7C966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7661024-9CB7-1D1F-72FF-AE6A7F124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78C24E-A4EA-3B18-4252-41A069FE7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7E54DA2-60EC-4212-0CC7-051B99DE4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2E63A77-9AF8-6FA2-A0A2-8AA907FA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53D522-C2F0-BAB4-35D3-FC5E02B4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oup of black and white faces&#10;&#10;AI-generated content may be incorrect.">
            <a:extLst>
              <a:ext uri="{FF2B5EF4-FFF2-40B4-BE49-F238E27FC236}">
                <a16:creationId xmlns:a16="http://schemas.microsoft.com/office/drawing/2014/main" id="{461502DB-CA86-72EB-D283-CDF6E4A6F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514" y="2819399"/>
            <a:ext cx="4909826" cy="3166837"/>
          </a:xfrm>
          <a:prstGeom prst="rect">
            <a:avLst/>
          </a:prstGeom>
        </p:spPr>
      </p:pic>
      <p:pic>
        <p:nvPicPr>
          <p:cNvPr id="4" name="Content Placeholder 3" descr="A group of black and white faces&#10;&#10;AI-generated content may be incorrect.">
            <a:extLst>
              <a:ext uri="{FF2B5EF4-FFF2-40B4-BE49-F238E27FC236}">
                <a16:creationId xmlns:a16="http://schemas.microsoft.com/office/drawing/2014/main" id="{4BAFE1A0-8598-03D3-3F1D-29E53305E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94431" y="2819400"/>
            <a:ext cx="4890867" cy="3166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FAB481-70FD-AD7E-FE6D-65ADABFD8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Similarity as Feature-Set Interaction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A87A1-BB7B-7A90-ECA3-125034C44035}"/>
              </a:ext>
            </a:extLst>
          </p:cNvPr>
          <p:cNvSpPr txBox="1"/>
          <p:nvPr/>
        </p:nvSpPr>
        <p:spPr>
          <a:xfrm>
            <a:off x="6303264" y="1743456"/>
            <a:ext cx="5754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“smiling has a greater diagnostic value in Set 1 than in Set 2, whereas frowning has a greater diagnostic value in Set 2 than in Set 1.”</a:t>
            </a:r>
          </a:p>
        </p:txBody>
      </p:sp>
    </p:spTree>
    <p:extLst>
      <p:ext uri="{BB962C8B-B14F-4D97-AF65-F5344CB8AC3E}">
        <p14:creationId xmlns:p14="http://schemas.microsoft.com/office/powerpoint/2010/main" val="3764780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E6CEF-194E-65AE-193A-4CDEC228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19EF34C-5622-413F-9C9F-AC937E306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549954-3C0C-48B7-9BE6-9B32C39D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3" descr="A group of black and white faces&#10;&#10;AI-generated content may be incorrect.">
            <a:extLst>
              <a:ext uri="{FF2B5EF4-FFF2-40B4-BE49-F238E27FC236}">
                <a16:creationId xmlns:a16="http://schemas.microsoft.com/office/drawing/2014/main" id="{C0163C5C-1E8B-8CE8-BB18-17B4396DC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49"/>
          <a:stretch/>
        </p:blipFill>
        <p:spPr>
          <a:xfrm>
            <a:off x="800100" y="3048000"/>
            <a:ext cx="5133990" cy="2737551"/>
          </a:xfrm>
          <a:prstGeom prst="rect">
            <a:avLst/>
          </a:prstGeom>
        </p:spPr>
      </p:pic>
      <p:pic>
        <p:nvPicPr>
          <p:cNvPr id="8" name="Picture 7" descr="A group of black and white faces&#10;&#10;AI-generated content may be incorrect.">
            <a:extLst>
              <a:ext uri="{FF2B5EF4-FFF2-40B4-BE49-F238E27FC236}">
                <a16:creationId xmlns:a16="http://schemas.microsoft.com/office/drawing/2014/main" id="{40352363-516E-17AD-78E9-62F5080028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18102"/>
          <a:stretch/>
        </p:blipFill>
        <p:spPr>
          <a:xfrm>
            <a:off x="6209622" y="3035808"/>
            <a:ext cx="5182278" cy="27375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C04E18-186A-5F6C-BB4F-DC3C60DA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4729"/>
            <a:ext cx="4206240" cy="18215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Similarity as Feature-Set Interaction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5C524F-14E1-BEF5-D5ED-028BEDBE2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974" y="952368"/>
            <a:ext cx="6418727" cy="177389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“the similarity of a (which has a neutral expression) to b (which is frowning) should be greater in Set 1, where they are grouped together, than in Set 2, where they are grouped separately. Likewise, the similarity of a to c (which is smiling) should be greater in Set 2, where they are grouped together, than in Set 1, where they are not.” (Tversky, p.342)</a:t>
            </a:r>
          </a:p>
        </p:txBody>
      </p:sp>
    </p:spTree>
    <p:extLst>
      <p:ext uri="{BB962C8B-B14F-4D97-AF65-F5344CB8AC3E}">
        <p14:creationId xmlns:p14="http://schemas.microsoft.com/office/powerpoint/2010/main" val="2585350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76F2F-DA01-429F-B769-FB25ACBD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Similarity as Feature-Set Interaction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graph of a group of countries/regions&#10;&#10;AI-generated content may be incorrect.">
            <a:extLst>
              <a:ext uri="{FF2B5EF4-FFF2-40B4-BE49-F238E27FC236}">
                <a16:creationId xmlns:a16="http://schemas.microsoft.com/office/drawing/2014/main" id="{F66E7E44-7C6F-4F62-0CCA-04E75E9DF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53366" y="431293"/>
            <a:ext cx="5938584" cy="5410200"/>
          </a:xfrm>
          <a:prstGeom prst="rect">
            <a:avLst/>
          </a:prstGeom>
        </p:spPr>
      </p:pic>
      <p:pic>
        <p:nvPicPr>
          <p:cNvPr id="7" name="image12.png">
            <a:extLst>
              <a:ext uri="{FF2B5EF4-FFF2-40B4-BE49-F238E27FC236}">
                <a16:creationId xmlns:a16="http://schemas.microsoft.com/office/drawing/2014/main" id="{9FA0B5B5-9201-C07A-21BF-CAB6BC68A04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87746" y="4813971"/>
            <a:ext cx="5165569" cy="17176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65976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5DD4-A070-D8A7-A3D4-E8C52E6D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as Feature-Set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DD86-40B9-B8F6-F960-745F43D78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Müllensiefen</a:t>
            </a:r>
            <a:r>
              <a:rPr lang="en-US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 and </a:t>
            </a:r>
            <a:r>
              <a:rPr lang="en-US" dirty="0" err="1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Pendzich</a:t>
            </a:r>
            <a:r>
              <a:rPr lang="en-US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 (2009): </a:t>
            </a:r>
          </a:p>
          <a:p>
            <a:pPr lvl="1"/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applied a variant of Tversky’s equation to model similarity in terms of melodic interval </a:t>
            </a:r>
            <a:r>
              <a:rPr lang="en-US" sz="2000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n</a:t>
            </a:r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-grams. </a:t>
            </a:r>
          </a:p>
          <a:p>
            <a:pPr lvl="1"/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Measuring each </a:t>
            </a:r>
            <a:r>
              <a:rPr lang="en-US" sz="2000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n</a:t>
            </a:r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-gram’s salience as a function of its frequency in a corpus of melodies (less frequent </a:t>
            </a:r>
            <a:r>
              <a:rPr lang="en-US" sz="2000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n</a:t>
            </a:r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-grams were considered more salient), they showed that melodic similarity resulting from Tversky’s equation succeeded in predicting over 90% of plagiarism court case outcomes. </a:t>
            </a:r>
          </a:p>
          <a:p>
            <a:pPr lvl="1"/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The winning model relied on the asymmetry assumption: </a:t>
            </a:r>
          </a:p>
          <a:p>
            <a:pPr lvl="2"/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features shared with the plaintiff’s song mattered more than those unique to the defendant’s. </a:t>
            </a:r>
          </a:p>
        </p:txBody>
      </p:sp>
    </p:spTree>
    <p:extLst>
      <p:ext uri="{BB962C8B-B14F-4D97-AF65-F5344CB8AC3E}">
        <p14:creationId xmlns:p14="http://schemas.microsoft.com/office/powerpoint/2010/main" val="1489692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CCF1F-6BC7-88C1-83BA-9869EC57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65BD-BBEB-4B97-579D-16145319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as Feature-Set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CF70B-BC2C-5F2F-29FC-FC0A83BE7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sz="22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Lamont and Dibben (2001) presented listeners with pieces by Beethoven and Schoenberg and asked them to rate similarity between pairs of excerpts. </a:t>
            </a:r>
          </a:p>
          <a:p>
            <a:pPr lvl="1"/>
            <a:endParaRPr lang="en-US" sz="22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/>
            <a:r>
              <a:rPr lang="en-US" sz="22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For </a:t>
            </a:r>
            <a:r>
              <a:rPr lang="en-US" sz="22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Beethoven piece</a:t>
            </a:r>
            <a:r>
              <a:rPr lang="en-US" sz="22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:</a:t>
            </a:r>
          </a:p>
          <a:p>
            <a:pPr lvl="2"/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dynamics, texture, and articulation mattered more for similarity judgments, </a:t>
            </a:r>
          </a:p>
          <a:p>
            <a:pPr lvl="1"/>
            <a:endParaRPr lang="en-US" sz="22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/>
            <a:r>
              <a:rPr lang="en-US" sz="22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F</a:t>
            </a:r>
            <a:r>
              <a:rPr lang="en-US" sz="22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or the </a:t>
            </a:r>
            <a:r>
              <a:rPr lang="en-US" sz="2200" b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Schoenberg piece</a:t>
            </a:r>
            <a:r>
              <a:rPr lang="en-US" sz="22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, tempo and dynamics were most important. </a:t>
            </a:r>
          </a:p>
          <a:p>
            <a:pPr lvl="1"/>
            <a:endParaRPr lang="en-US" sz="22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pPr lvl="1"/>
            <a:r>
              <a:rPr lang="en-US" sz="22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They concluded that “the pieces set their own similarity criteria,” </a:t>
            </a:r>
          </a:p>
          <a:p>
            <a:pPr lvl="2"/>
            <a:r>
              <a:rPr lang="en-US" sz="20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Tversky’s notion that feature importance should vary as a function of context.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421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B212-E05F-3406-6BD0-3BE0B730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a Feature-Set Interaction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324F3-0191-B45E-B1C0-7188A5D79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1800" dirty="0">
              <a:effectLst/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We are talking about the features, but not necessarily the </a:t>
            </a:r>
            <a:r>
              <a:rPr lang="en-US" sz="1800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connections </a:t>
            </a: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between the features. </a:t>
            </a:r>
          </a:p>
          <a:p>
            <a:endParaRPr lang="en-US" sz="18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endParaRPr lang="en-US" sz="1800" dirty="0">
              <a:latin typeface="Academico" panose="02040603050705020304" pitchFamily="18" charset="77"/>
              <a:ea typeface="Academico" panose="02040603050705020304" pitchFamily="18" charset="77"/>
              <a:cs typeface="Academico" panose="02040603050705020304" pitchFamily="18" charset="77"/>
            </a:endParaRPr>
          </a:p>
          <a:p>
            <a:r>
              <a:rPr lang="en-US" sz="1800" dirty="0"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F</a:t>
            </a: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eature lists lack higher order structure (they are what psychologists call </a:t>
            </a:r>
            <a:r>
              <a:rPr lang="en-US" sz="1800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unstructured representations</a:t>
            </a: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). </a:t>
            </a:r>
          </a:p>
          <a:p>
            <a:endParaRPr lang="en-US" sz="1800" dirty="0">
              <a:latin typeface="Academico" panose="02040603050705020304" pitchFamily="18" charset="77"/>
            </a:endParaRPr>
          </a:p>
          <a:p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We might argue that musical similarity, however, </a:t>
            </a:r>
            <a:r>
              <a:rPr lang="en-US" sz="1800" i="1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requires</a:t>
            </a:r>
            <a:r>
              <a:rPr lang="en-US" sz="1800" dirty="0">
                <a:effectLst/>
                <a:latin typeface="Academico" panose="02040603050705020304" pitchFamily="18" charset="77"/>
                <a:ea typeface="Academico" panose="02040603050705020304" pitchFamily="18" charset="77"/>
                <a:cs typeface="Academico" panose="02040603050705020304" pitchFamily="18" charset="77"/>
              </a:rPr>
              <a:t> the connections between parts of the list.</a:t>
            </a:r>
            <a:r>
              <a:rPr lang="en-US" dirty="0">
                <a:effectLst/>
              </a:rPr>
              <a:t> </a:t>
            </a:r>
          </a:p>
          <a:p>
            <a:pPr lvl="1"/>
            <a:r>
              <a:rPr lang="en-US" dirty="0"/>
              <a:t>Perhaps the temporality of music is important here.</a:t>
            </a:r>
          </a:p>
        </p:txBody>
      </p:sp>
    </p:spTree>
    <p:extLst>
      <p:ext uri="{BB962C8B-B14F-4D97-AF65-F5344CB8AC3E}">
        <p14:creationId xmlns:p14="http://schemas.microsoft.com/office/powerpoint/2010/main" val="2338839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1FFB-78AC-F833-E7A1-8693D1E1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as Alignment (See Gentner, 1983)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E076A-016D-0D9D-1548-F57A9B505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6577735" cy="37398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Juxtaposing two things, looking beyond differences in the structural content, but look at higher order connections:</a:t>
            </a:r>
          </a:p>
          <a:p>
            <a:pPr lvl="1"/>
            <a:r>
              <a:rPr lang="en-US" dirty="0"/>
              <a:t>Both motives are in two halves</a:t>
            </a:r>
          </a:p>
          <a:p>
            <a:pPr lvl="1"/>
            <a:r>
              <a:rPr lang="en-US" dirty="0"/>
              <a:t>Both have repetition (one exact, one varied)</a:t>
            </a:r>
          </a:p>
          <a:p>
            <a:pPr lvl="1"/>
            <a:r>
              <a:rPr lang="en-US" dirty="0"/>
              <a:t>Each half has an upbeat,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By aligning them you can also foreground between the two.</a:t>
            </a:r>
          </a:p>
          <a:p>
            <a:endParaRPr lang="en-US" dirty="0"/>
          </a:p>
          <a:p>
            <a:r>
              <a:rPr lang="en-US" dirty="0"/>
              <a:t>No </a:t>
            </a:r>
            <a:r>
              <a:rPr lang="en-US" i="1" dirty="0"/>
              <a:t>a priori </a:t>
            </a:r>
            <a:r>
              <a:rPr lang="en-US" dirty="0"/>
              <a:t>knowledge assumed.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BA255B8C-CC68-C57B-6640-233AFAE8322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480267" y="2350009"/>
            <a:ext cx="4113530" cy="25146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85808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D4BE-5F68-9E72-E7C8-10F885B1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1499-E7FD-6C25-3F98-C5509107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4 groups</a:t>
            </a:r>
          </a:p>
          <a:p>
            <a:endParaRPr lang="en-US" dirty="0"/>
          </a:p>
          <a:p>
            <a:r>
              <a:rPr lang="en-US" dirty="0"/>
              <a:t>You have an index card with your song on it.</a:t>
            </a:r>
          </a:p>
          <a:p>
            <a:endParaRPr lang="en-US" dirty="0"/>
          </a:p>
          <a:p>
            <a:r>
              <a:rPr lang="en-US" dirty="0"/>
              <a:t>Group them into similar songs</a:t>
            </a:r>
          </a:p>
          <a:p>
            <a:pPr lvl="1"/>
            <a:r>
              <a:rPr lang="en-US" dirty="0"/>
              <a:t>Discuss why you grouped them as such.</a:t>
            </a:r>
          </a:p>
          <a:p>
            <a:pPr lvl="2"/>
            <a:r>
              <a:rPr lang="en-US" dirty="0"/>
              <a:t>Which approach did you use?</a:t>
            </a:r>
          </a:p>
          <a:p>
            <a:pPr lvl="2"/>
            <a:r>
              <a:rPr lang="en-US" dirty="0"/>
              <a:t>What features were “diagnostic”? </a:t>
            </a:r>
          </a:p>
          <a:p>
            <a:pPr lvl="1"/>
            <a:r>
              <a:rPr lang="en-US" dirty="0"/>
              <a:t>Be prepared to defend your grouping!</a:t>
            </a:r>
          </a:p>
        </p:txBody>
      </p:sp>
      <p:pic>
        <p:nvPicPr>
          <p:cNvPr id="2050" name="Picture 2" descr="Defend Price with These Proactive B2B ...">
            <a:extLst>
              <a:ext uri="{FF2B5EF4-FFF2-40B4-BE49-F238E27FC236}">
                <a16:creationId xmlns:a16="http://schemas.microsoft.com/office/drawing/2014/main" id="{52DD69C1-99A9-6ADA-D1FD-AE73D83C9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887" y="3245359"/>
            <a:ext cx="29337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4944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RegularSeedRightStep">
      <a:dk1>
        <a:srgbClr val="000000"/>
      </a:dk1>
      <a:lt1>
        <a:srgbClr val="FFFFFF"/>
      </a:lt1>
      <a:dk2>
        <a:srgbClr val="412B24"/>
      </a:dk2>
      <a:lt2>
        <a:srgbClr val="E2E8E7"/>
      </a:lt2>
      <a:accent1>
        <a:srgbClr val="C7495F"/>
      </a:accent1>
      <a:accent2>
        <a:srgbClr val="B55637"/>
      </a:accent2>
      <a:accent3>
        <a:srgbClr val="C79C49"/>
      </a:accent3>
      <a:accent4>
        <a:srgbClr val="A2AB34"/>
      </a:accent4>
      <a:accent5>
        <a:srgbClr val="7AB141"/>
      </a:accent5>
      <a:accent6>
        <a:srgbClr val="43B537"/>
      </a:accent6>
      <a:hlink>
        <a:srgbClr val="319382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2905</TotalTime>
  <Words>1403</Words>
  <Application>Microsoft Macintosh PowerPoint</Application>
  <PresentationFormat>Widescreen</PresentationFormat>
  <Paragraphs>162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Academico</vt:lpstr>
      <vt:lpstr>Aptos</vt:lpstr>
      <vt:lpstr>Arial</vt:lpstr>
      <vt:lpstr>Calisto MT</vt:lpstr>
      <vt:lpstr>Times New Roman</vt:lpstr>
      <vt:lpstr>Univers Condensed</vt:lpstr>
      <vt:lpstr>Wingdings</vt:lpstr>
      <vt:lpstr>ChronicleVTI</vt:lpstr>
      <vt:lpstr>Similarity</vt:lpstr>
      <vt:lpstr>Beyonce on Genre</vt:lpstr>
      <vt:lpstr>How would you grade these?</vt:lpstr>
      <vt:lpstr>How do we think of music as similar or not?</vt:lpstr>
      <vt:lpstr>PowerPoint Presentation</vt:lpstr>
      <vt:lpstr>Similarity as Transformation</vt:lpstr>
      <vt:lpstr>Similarity as Transformation</vt:lpstr>
      <vt:lpstr>Edit Distance</vt:lpstr>
      <vt:lpstr>Edit Distance</vt:lpstr>
      <vt:lpstr>Similarity as Spatial Distance</vt:lpstr>
      <vt:lpstr>Similarity as Spatial Distance</vt:lpstr>
      <vt:lpstr>Theme and Variations</vt:lpstr>
      <vt:lpstr>Limitations of a Spatial Distance Approach</vt:lpstr>
      <vt:lpstr>Limitations of a Spatial Distance Approach</vt:lpstr>
      <vt:lpstr>Limitations of a Spatial Distance Approach</vt:lpstr>
      <vt:lpstr>Limitations of a Spatial Distance Approach</vt:lpstr>
      <vt:lpstr>Similarity as Feature-Set Interaction</vt:lpstr>
      <vt:lpstr>Similarity as Feature-Set Interaction</vt:lpstr>
      <vt:lpstr>Similarity as Feature-Set Interaction</vt:lpstr>
      <vt:lpstr>Similarity as Feature-Set Interaction</vt:lpstr>
      <vt:lpstr>Similarity as Feature-Set Interaction</vt:lpstr>
      <vt:lpstr>Similarity as Feature-Set Interaction</vt:lpstr>
      <vt:lpstr>Similarity as Feature-Set Interaction</vt:lpstr>
      <vt:lpstr>Similarity as Feature-Set Interaction</vt:lpstr>
      <vt:lpstr>Similarity as Feature-Set Interaction</vt:lpstr>
      <vt:lpstr>Limitations of a Feature-Set Interaction Approach</vt:lpstr>
      <vt:lpstr>Similarity as Alignment (See Gentner, 1983)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 Shanahan</dc:creator>
  <cp:lastModifiedBy>Daniel T Shanahan</cp:lastModifiedBy>
  <cp:revision>68</cp:revision>
  <dcterms:created xsi:type="dcterms:W3CDTF">2025-02-04T15:36:12Z</dcterms:created>
  <dcterms:modified xsi:type="dcterms:W3CDTF">2026-06-23T23:56:02Z</dcterms:modified>
</cp:coreProperties>
</file>